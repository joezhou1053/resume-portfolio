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9" r:id="rId5"/>
    <p:sldId id="266" r:id="rId6"/>
    <p:sldId id="268" r:id="rId7"/>
    <p:sldId id="263" r:id="rId8"/>
    <p:sldId id="270" r:id="rId9"/>
    <p:sldId id="260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7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56FC-A91F-0130-C114-961F6D64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17A5B-D797-EA1C-98EA-946DFAABC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703C8-C52E-2245-8CC9-6203F1FF4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28895-5E05-3DDA-107F-D06239F81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58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4C53-CC63-4A45-61D8-46853B98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60672-DBDC-E300-FBA5-F79CD5521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009E8-7CF7-B31F-1F9C-2FBFC739D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5A9D-0257-5625-6B66-E6AD336A4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16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CA01-1A9E-DCDA-96E2-635501ED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93813-66A4-F514-FE32-8EC617EA7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925C1-9F18-A76E-7317-5C0718E1F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BA8DB-9C22-6C04-7220-354FE4DB5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51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7F64-AD25-2166-6420-AB9D7263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357C1-AF69-E3A7-AE1D-3F2B11003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3B909-CDA0-5022-D272-0780B935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32475-D8D3-976A-C874-6F792C326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23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D1EB6-CE01-F0CA-9D6F-4B77C6AF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60745-4C2C-F3A2-41FF-9DBFB8422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047B8-775C-3FE8-9093-0FB4321E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F5EEF-30BB-ABFF-664F-B4FC5F7F0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93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6A7F-1075-7B85-FDEC-990BF0E5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F8B19-EF53-D306-35B0-AB2F90CC3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09B0E-147E-35AF-7CF3-B1DA70257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EE0F-07C7-518C-D102-D06C7FAE2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6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105D-F435-F3EC-31C8-2FC42D8E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48F93-1A92-9639-CA1E-BEAFF3DCC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4F49C-B40B-33D5-5CDB-8991F9C70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47746-B422-5428-B8ED-41210E6F6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32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23DCE-9457-A62C-39D7-7E7AE8DC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674B2-AE73-1C71-7BD5-1C0CA1AEB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9CDCD-6886-351B-B225-9D58B5C61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87705-A945-CE31-E783-D958E7DA8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7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2.png"/><Relationship Id="rId5" Type="http://schemas.openxmlformats.org/officeDocument/2006/relationships/image" Target="../media/image23.png"/><Relationship Id="rId15" Type="http://schemas.openxmlformats.org/officeDocument/2006/relationships/image" Target="../media/image20.png"/><Relationship Id="rId10" Type="http://schemas.openxmlformats.org/officeDocument/2006/relationships/image" Target="../media/image31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1.png"/><Relationship Id="rId21" Type="http://schemas.openxmlformats.org/officeDocument/2006/relationships/image" Target="../media/image50.png"/><Relationship Id="rId7" Type="http://schemas.openxmlformats.org/officeDocument/2006/relationships/image" Target="../media/image13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24" Type="http://schemas.openxmlformats.org/officeDocument/2006/relationships/image" Target="../media/image20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5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4.png"/><Relationship Id="rId21" Type="http://schemas.openxmlformats.org/officeDocument/2006/relationships/image" Target="../media/image69.png"/><Relationship Id="rId7" Type="http://schemas.openxmlformats.org/officeDocument/2006/relationships/image" Target="../media/image13.png"/><Relationship Id="rId12" Type="http://schemas.openxmlformats.org/officeDocument/2006/relationships/image" Target="../media/image62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2.png"/><Relationship Id="rId5" Type="http://schemas.openxmlformats.org/officeDocument/2006/relationships/image" Target="../media/image56.png"/><Relationship Id="rId15" Type="http://schemas.openxmlformats.org/officeDocument/2006/relationships/image" Target="../media/image25.png"/><Relationship Id="rId23" Type="http://schemas.openxmlformats.org/officeDocument/2006/relationships/image" Target="../media/image71.png"/><Relationship Id="rId28" Type="http://schemas.openxmlformats.org/officeDocument/2006/relationships/image" Target="../media/image20.png"/><Relationship Id="rId10" Type="http://schemas.openxmlformats.org/officeDocument/2006/relationships/image" Target="../media/image60.png"/><Relationship Id="rId19" Type="http://schemas.openxmlformats.org/officeDocument/2006/relationships/image" Target="../media/image67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3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5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4.png"/><Relationship Id="rId21" Type="http://schemas.openxmlformats.org/officeDocument/2006/relationships/image" Target="../media/image69.png"/><Relationship Id="rId7" Type="http://schemas.openxmlformats.org/officeDocument/2006/relationships/image" Target="../media/image13.png"/><Relationship Id="rId12" Type="http://schemas.openxmlformats.org/officeDocument/2006/relationships/image" Target="../media/image62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2.png"/><Relationship Id="rId5" Type="http://schemas.openxmlformats.org/officeDocument/2006/relationships/image" Target="../media/image56.png"/><Relationship Id="rId15" Type="http://schemas.openxmlformats.org/officeDocument/2006/relationships/image" Target="../media/image25.png"/><Relationship Id="rId23" Type="http://schemas.openxmlformats.org/officeDocument/2006/relationships/image" Target="../media/image71.png"/><Relationship Id="rId28" Type="http://schemas.openxmlformats.org/officeDocument/2006/relationships/image" Target="../media/image20.png"/><Relationship Id="rId10" Type="http://schemas.openxmlformats.org/officeDocument/2006/relationships/image" Target="../media/image60.png"/><Relationship Id="rId19" Type="http://schemas.openxmlformats.org/officeDocument/2006/relationships/image" Target="../media/image67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3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5.png"/><Relationship Id="rId18" Type="http://schemas.openxmlformats.org/officeDocument/2006/relationships/image" Target="../media/image67.png"/><Relationship Id="rId26" Type="http://schemas.openxmlformats.org/officeDocument/2006/relationships/image" Target="../media/image20.png"/><Relationship Id="rId3" Type="http://schemas.openxmlformats.org/officeDocument/2006/relationships/image" Target="../media/image54.png"/><Relationship Id="rId21" Type="http://schemas.openxmlformats.org/officeDocument/2006/relationships/image" Target="../media/image70.png"/><Relationship Id="rId7" Type="http://schemas.openxmlformats.org/officeDocument/2006/relationships/image" Target="../media/image13.png"/><Relationship Id="rId12" Type="http://schemas.openxmlformats.org/officeDocument/2006/relationships/image" Target="../media/image62.png"/><Relationship Id="rId17" Type="http://schemas.openxmlformats.org/officeDocument/2006/relationships/image" Target="../media/image66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4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3.png"/><Relationship Id="rId5" Type="http://schemas.openxmlformats.org/officeDocument/2006/relationships/image" Target="../media/image56.png"/><Relationship Id="rId15" Type="http://schemas.openxmlformats.org/officeDocument/2006/relationships/image" Target="../media/image25.png"/><Relationship Id="rId23" Type="http://schemas.openxmlformats.org/officeDocument/2006/relationships/image" Target="../media/image72.png"/><Relationship Id="rId10" Type="http://schemas.openxmlformats.org/officeDocument/2006/relationships/image" Target="../media/image60.png"/><Relationship Id="rId19" Type="http://schemas.openxmlformats.org/officeDocument/2006/relationships/image" Target="../media/image68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757" y="1425435"/>
            <a:ext cx="5844485" cy="400713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933" y="1716665"/>
            <a:ext cx="5296134" cy="342467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1409700"/>
            <a:ext cx="8534400" cy="403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1625" y="2971800"/>
            <a:ext cx="142875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477000"/>
            <a:ext cx="12192000" cy="762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0" y="18669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Short-Term Rental Market Analysis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1524000" y="32004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Watershed Property Management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1524000" y="3848100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Opportunity Assessment &amp; Strategic Implementation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2286000" y="4724400"/>
            <a:ext cx="486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Prepared for: </a:t>
            </a:r>
            <a:r>
              <a:rPr lang="en-US" sz="1350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8401794" y="4724400"/>
            <a:ext cx="1805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October 17,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586" y="378508"/>
            <a:ext cx="3954328" cy="30529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79" y="4617968"/>
            <a:ext cx="2922243" cy="20035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95400"/>
            <a:ext cx="5600700" cy="2247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5525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741668"/>
            <a:ext cx="5600700" cy="2247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029075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295400"/>
            <a:ext cx="5600700" cy="495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552575"/>
            <a:ext cx="1714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943100"/>
            <a:ext cx="9144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896100"/>
            <a:ext cx="121920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Opportunity Assessment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952500" y="15240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Market Trends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723900" y="19431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 consistently highlights lucrative potential of short-term rentals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7239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Property owners increasingly interested in tapping into this market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723900" y="3086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Growing consumer preference for vacation rental options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009650" y="40005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Timing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723900" y="4419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Pivotal conversation between CEO Sally Rinehart and long-standing client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723900" y="49911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Opportune moment to leverage our expertise with client's property portfolio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23900" y="55626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Now is the time to explore this promising new avenue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724650" y="15240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Opportunity</a:t>
            </a:r>
            <a:endParaRPr lang="en-US" sz="1800" dirty="0"/>
          </a:p>
        </p:txBody>
      </p:sp>
      <p:sp>
        <p:nvSpPr>
          <p:cNvPr id="26" name="Text 10"/>
          <p:cNvSpPr/>
          <p:nvPr/>
        </p:nvSpPr>
        <p:spPr>
          <a:xfrm>
            <a:off x="6622006" y="221370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244</a:t>
            </a:r>
            <a:endParaRPr lang="en-US" sz="2700" dirty="0"/>
          </a:p>
        </p:txBody>
      </p:sp>
      <p:sp>
        <p:nvSpPr>
          <p:cNvPr id="27" name="Text 11"/>
          <p:cNvSpPr/>
          <p:nvPr/>
        </p:nvSpPr>
        <p:spPr>
          <a:xfrm>
            <a:off x="7505700" y="2152650"/>
            <a:ext cx="4022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7505700" y="2419350"/>
            <a:ext cx="4827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Extensive portfolio available for strategic conversion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6438900" y="45339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Insights:</a:t>
            </a:r>
            <a:endParaRPr lang="en-US" sz="1500" dirty="0"/>
          </a:p>
        </p:txBody>
      </p:sp>
      <p:sp>
        <p:nvSpPr>
          <p:cNvPr id="30" name="Text 14"/>
          <p:cNvSpPr/>
          <p:nvPr/>
        </p:nvSpPr>
        <p:spPr>
          <a:xfrm>
            <a:off x="6553200" y="4876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has successfully managed 244 properties to this point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6553200" y="52197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company has the expertise to scale into this market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6553200" y="5562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Phased pilot project can be implemented to test market response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381000" y="64770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sp>
        <p:nvSpPr>
          <p:cNvPr id="34" name="Explosion: 8 Points 33">
            <a:extLst>
              <a:ext uri="{FF2B5EF4-FFF2-40B4-BE49-F238E27FC236}">
                <a16:creationId xmlns:a16="http://schemas.microsoft.com/office/drawing/2014/main" id="{384A9798-772B-3D0A-275C-58AAA1BEF1DF}"/>
              </a:ext>
            </a:extLst>
          </p:cNvPr>
          <p:cNvSpPr/>
          <p:nvPr/>
        </p:nvSpPr>
        <p:spPr>
          <a:xfrm>
            <a:off x="7335560" y="2654195"/>
            <a:ext cx="2697942" cy="1871562"/>
          </a:xfrm>
          <a:prstGeom prst="irregularSeal1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profit-sharing arrangement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3785-8D4C-ADDF-86B1-A555025D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EFB351B-4300-ACD5-05A9-DA3868CCE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3FED13C-6418-F150-6892-5B8962301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428C8CF-E65D-A13A-3CCF-1991796AE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713" y="895052"/>
            <a:ext cx="3414824" cy="2496146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6884879B-7439-3C7F-14C7-62824DA92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0FA9DD58-7164-8825-EBA3-F2D42A9B4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407" y="1219199"/>
            <a:ext cx="11377186" cy="129251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2199CD56-42FC-D3F3-6077-A50841C70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763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972AE58-7F2F-D4D1-8E81-C1CDCD18F8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9600"/>
            <a:ext cx="12192000" cy="1524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07C692B6-983E-8DE8-6229-0719EE110D72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 Analysis</a:t>
            </a:r>
            <a:endParaRPr lang="en-US" sz="27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C8B19A1C-79EC-D024-E6CE-B6B115375880}"/>
              </a:ext>
            </a:extLst>
          </p:cNvPr>
          <p:cNvSpPr/>
          <p:nvPr/>
        </p:nvSpPr>
        <p:spPr>
          <a:xfrm>
            <a:off x="9525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altLang="zh-CN" b="1" dirty="0"/>
              <a:t>Downside Scenario</a:t>
            </a:r>
            <a:endParaRPr lang="en-US" sz="1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0615525B-2A9C-233B-916D-CA7DAC59E5DA}"/>
              </a:ext>
            </a:extLst>
          </p:cNvPr>
          <p:cNvSpPr/>
          <p:nvPr/>
        </p:nvSpPr>
        <p:spPr>
          <a:xfrm>
            <a:off x="723900" y="1866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5D88667-A9E3-1AF1-96F2-81DBEEE63590}"/>
              </a:ext>
            </a:extLst>
          </p:cNvPr>
          <p:cNvSpPr/>
          <p:nvPr/>
        </p:nvSpPr>
        <p:spPr>
          <a:xfrm>
            <a:off x="723900" y="2438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ACD41E24-7748-CF49-8656-AF6AC01AA052}"/>
              </a:ext>
            </a:extLst>
          </p:cNvPr>
          <p:cNvSpPr/>
          <p:nvPr/>
        </p:nvSpPr>
        <p:spPr>
          <a:xfrm>
            <a:off x="723900" y="3009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7CCF66DD-6C75-5BF8-CA1D-51C205598483}"/>
              </a:ext>
            </a:extLst>
          </p:cNvPr>
          <p:cNvSpPr/>
          <p:nvPr/>
        </p:nvSpPr>
        <p:spPr>
          <a:xfrm>
            <a:off x="723900" y="3581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613D2FE-A0AB-D3BB-0421-C58C39C8A8DA}"/>
              </a:ext>
            </a:extLst>
          </p:cNvPr>
          <p:cNvSpPr/>
          <p:nvPr/>
        </p:nvSpPr>
        <p:spPr>
          <a:xfrm>
            <a:off x="952500" y="47244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5738419-B1B4-826C-CDDD-154C39EFA1EC}"/>
              </a:ext>
            </a:extLst>
          </p:cNvPr>
          <p:cNvSpPr/>
          <p:nvPr/>
        </p:nvSpPr>
        <p:spPr>
          <a:xfrm>
            <a:off x="732808" y="5454650"/>
            <a:ext cx="1038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16F9A9-710F-A1BA-2A5F-33D322237EC5}"/>
              </a:ext>
            </a:extLst>
          </p:cNvPr>
          <p:cNvSpPr/>
          <p:nvPr/>
        </p:nvSpPr>
        <p:spPr>
          <a:xfrm>
            <a:off x="1627436" y="5238750"/>
            <a:ext cx="4125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565DF9C-F7BB-D7F9-3889-B66066C3433C}"/>
              </a:ext>
            </a:extLst>
          </p:cNvPr>
          <p:cNvSpPr/>
          <p:nvPr/>
        </p:nvSpPr>
        <p:spPr>
          <a:xfrm>
            <a:off x="1627436" y="5505450"/>
            <a:ext cx="412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EEDDD39-89BA-FC8D-856B-266462C6BD6B}"/>
              </a:ext>
            </a:extLst>
          </p:cNvPr>
          <p:cNvSpPr/>
          <p:nvPr/>
        </p:nvSpPr>
        <p:spPr>
          <a:xfrm>
            <a:off x="723900" y="62103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D8FF10F-AB1F-85C0-079E-C96A1D17F8FF}"/>
              </a:ext>
            </a:extLst>
          </p:cNvPr>
          <p:cNvSpPr/>
          <p:nvPr/>
        </p:nvSpPr>
        <p:spPr>
          <a:xfrm>
            <a:off x="732808" y="65436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EA9A20D5-9D7A-89B8-7278-365D9834BD09}"/>
              </a:ext>
            </a:extLst>
          </p:cNvPr>
          <p:cNvSpPr/>
          <p:nvPr/>
        </p:nvSpPr>
        <p:spPr>
          <a:xfrm>
            <a:off x="6553200" y="4267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DC64ECD5-B093-E339-E430-32EB93AB0942}"/>
              </a:ext>
            </a:extLst>
          </p:cNvPr>
          <p:cNvSpPr/>
          <p:nvPr/>
        </p:nvSpPr>
        <p:spPr>
          <a:xfrm>
            <a:off x="6553200" y="4610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6143C3A-C50F-88D8-CAAF-A53FB97BE524}"/>
              </a:ext>
            </a:extLst>
          </p:cNvPr>
          <p:cNvSpPr/>
          <p:nvPr/>
        </p:nvSpPr>
        <p:spPr>
          <a:xfrm>
            <a:off x="6553200" y="4953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4C67DC5E-C2C6-C8D1-CAE3-D49D19D65620}"/>
              </a:ext>
            </a:extLst>
          </p:cNvPr>
          <p:cNvSpPr/>
          <p:nvPr/>
        </p:nvSpPr>
        <p:spPr>
          <a:xfrm>
            <a:off x="6553200" y="5295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317C78B-5EE7-CBCE-D41E-04D9791FE493}"/>
              </a:ext>
            </a:extLst>
          </p:cNvPr>
          <p:cNvSpPr/>
          <p:nvPr/>
        </p:nvSpPr>
        <p:spPr>
          <a:xfrm>
            <a:off x="6553200" y="563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544CEFAF-83BB-A0F6-73C4-E1BD7644B3D1}"/>
              </a:ext>
            </a:extLst>
          </p:cNvPr>
          <p:cNvSpPr/>
          <p:nvPr/>
        </p:nvSpPr>
        <p:spPr>
          <a:xfrm>
            <a:off x="381000" y="7810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F9056D-0D9A-746C-1C47-2DDF336809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927" y="1809193"/>
            <a:ext cx="10553159" cy="541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6E1C-849F-2ED2-8B96-4A6CA3B9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057A542-98DD-0047-C20C-80F324D1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DBF5132-4EC1-5ABA-8613-30E9545B2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285B6EB-2BF0-1FB9-D1AA-BDE9DEB1D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713" y="895052"/>
            <a:ext cx="3414824" cy="2496146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361CAC3-1DBF-DC67-6550-2BC4AC370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463E7B1-FCD4-E44D-7457-F4BBEF5579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407" y="1219199"/>
            <a:ext cx="11377186" cy="129251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5BBC8E36-F584-B48C-4226-B40E6AE8AF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763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3ECDF976-C6CF-C8ED-6C09-605DB6A0C8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9600"/>
            <a:ext cx="12192000" cy="1524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0FE678F6-E0FC-FA2A-BF64-CF5C9119F6F8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 Analysis</a:t>
            </a:r>
            <a:endParaRPr lang="en-US" sz="27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9C5C231-99AC-2093-3DC1-C99C7DA0A894}"/>
              </a:ext>
            </a:extLst>
          </p:cNvPr>
          <p:cNvSpPr/>
          <p:nvPr/>
        </p:nvSpPr>
        <p:spPr>
          <a:xfrm>
            <a:off x="9525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800" b="1" dirty="0"/>
              <a:t>Base Case</a:t>
            </a:r>
            <a:endParaRPr lang="en-US" sz="1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1DA29AE-B6E8-111E-BF9D-E4AACCB8BDCA}"/>
              </a:ext>
            </a:extLst>
          </p:cNvPr>
          <p:cNvSpPr/>
          <p:nvPr/>
        </p:nvSpPr>
        <p:spPr>
          <a:xfrm>
            <a:off x="723900" y="1866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26D1D66D-1CED-8817-21BB-B421BB5F2D3D}"/>
              </a:ext>
            </a:extLst>
          </p:cNvPr>
          <p:cNvSpPr/>
          <p:nvPr/>
        </p:nvSpPr>
        <p:spPr>
          <a:xfrm>
            <a:off x="723900" y="2438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66570CA-86EB-2A70-EADA-7741D0783ACD}"/>
              </a:ext>
            </a:extLst>
          </p:cNvPr>
          <p:cNvSpPr/>
          <p:nvPr/>
        </p:nvSpPr>
        <p:spPr>
          <a:xfrm>
            <a:off x="723900" y="3009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AE71C8C-18B4-8713-F842-1AD1DF60DB47}"/>
              </a:ext>
            </a:extLst>
          </p:cNvPr>
          <p:cNvSpPr/>
          <p:nvPr/>
        </p:nvSpPr>
        <p:spPr>
          <a:xfrm>
            <a:off x="723900" y="3581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07FCC07-7650-36F8-71E3-16D75BACD397}"/>
              </a:ext>
            </a:extLst>
          </p:cNvPr>
          <p:cNvSpPr/>
          <p:nvPr/>
        </p:nvSpPr>
        <p:spPr>
          <a:xfrm>
            <a:off x="952500" y="47244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B0D7CFD-5B7C-ADAB-8134-677779E1BF23}"/>
              </a:ext>
            </a:extLst>
          </p:cNvPr>
          <p:cNvSpPr/>
          <p:nvPr/>
        </p:nvSpPr>
        <p:spPr>
          <a:xfrm>
            <a:off x="732808" y="5454650"/>
            <a:ext cx="1038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9490DF3-0AF5-5842-0930-1F9412A3E3FB}"/>
              </a:ext>
            </a:extLst>
          </p:cNvPr>
          <p:cNvSpPr/>
          <p:nvPr/>
        </p:nvSpPr>
        <p:spPr>
          <a:xfrm>
            <a:off x="1627436" y="5238750"/>
            <a:ext cx="4125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2AE090E0-76D4-C8F2-E6DC-294A8D47506F}"/>
              </a:ext>
            </a:extLst>
          </p:cNvPr>
          <p:cNvSpPr/>
          <p:nvPr/>
        </p:nvSpPr>
        <p:spPr>
          <a:xfrm>
            <a:off x="1627436" y="5505450"/>
            <a:ext cx="412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B05F794-25DA-D227-EC3A-3D2256A4E73D}"/>
              </a:ext>
            </a:extLst>
          </p:cNvPr>
          <p:cNvSpPr/>
          <p:nvPr/>
        </p:nvSpPr>
        <p:spPr>
          <a:xfrm>
            <a:off x="723900" y="62103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F1878EE-8B61-AF2B-DA66-0BC63AE5A5FD}"/>
              </a:ext>
            </a:extLst>
          </p:cNvPr>
          <p:cNvSpPr/>
          <p:nvPr/>
        </p:nvSpPr>
        <p:spPr>
          <a:xfrm>
            <a:off x="732808" y="65436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C6D39D5-86C3-1DA6-8AE5-4C9BF7358CCE}"/>
              </a:ext>
            </a:extLst>
          </p:cNvPr>
          <p:cNvSpPr/>
          <p:nvPr/>
        </p:nvSpPr>
        <p:spPr>
          <a:xfrm>
            <a:off x="6553200" y="4267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C7536BF-06B6-CC7C-483A-03D7DE03D488}"/>
              </a:ext>
            </a:extLst>
          </p:cNvPr>
          <p:cNvSpPr/>
          <p:nvPr/>
        </p:nvSpPr>
        <p:spPr>
          <a:xfrm>
            <a:off x="6553200" y="4610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4C8AD9CB-07DD-0078-EA3B-6C1DAC9BB9CD}"/>
              </a:ext>
            </a:extLst>
          </p:cNvPr>
          <p:cNvSpPr/>
          <p:nvPr/>
        </p:nvSpPr>
        <p:spPr>
          <a:xfrm>
            <a:off x="6553200" y="4953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19C7B558-F495-21CD-2C2B-9D985571870E}"/>
              </a:ext>
            </a:extLst>
          </p:cNvPr>
          <p:cNvSpPr/>
          <p:nvPr/>
        </p:nvSpPr>
        <p:spPr>
          <a:xfrm>
            <a:off x="6553200" y="5295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DD80C466-24C4-3ECC-35E8-133EA34850C8}"/>
              </a:ext>
            </a:extLst>
          </p:cNvPr>
          <p:cNvSpPr/>
          <p:nvPr/>
        </p:nvSpPr>
        <p:spPr>
          <a:xfrm>
            <a:off x="6553200" y="563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35DFC99C-2FDF-87F6-5488-CB6511DAC25C}"/>
              </a:ext>
            </a:extLst>
          </p:cNvPr>
          <p:cNvSpPr/>
          <p:nvPr/>
        </p:nvSpPr>
        <p:spPr>
          <a:xfrm>
            <a:off x="381000" y="7810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127263-2631-C9DC-CC6E-A97AE30CA4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807" y="2033174"/>
            <a:ext cx="10478386" cy="509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9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9A2A-7AE3-4709-D3A0-8636E36A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3CA66D0-2DF6-5620-3261-D27A3908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AA95E4C-16F3-667E-28D2-58D3A7285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7D999594-0F33-E758-33B6-4EE50CAD1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713" y="895052"/>
            <a:ext cx="3414824" cy="2496146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3621178-1CB7-5709-73F7-D3FCF2133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483306DE-D86D-9895-D30B-A57F33B53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" y="1171574"/>
            <a:ext cx="11314545" cy="12853939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4A41915-2639-E8BE-FA3C-D84D8309CC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229600"/>
            <a:ext cx="12192000" cy="1524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CC6BC696-FB44-5F54-46C8-356DD79DD53F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Sensitivity Analysis</a:t>
            </a:r>
            <a:endParaRPr lang="en-US" sz="27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4DE88845-873E-7FD1-7E2A-391BF32FDF23}"/>
              </a:ext>
            </a:extLst>
          </p:cNvPr>
          <p:cNvSpPr/>
          <p:nvPr/>
        </p:nvSpPr>
        <p:spPr>
          <a:xfrm>
            <a:off x="9525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endParaRPr lang="en-US" sz="1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E05DBF54-7D3F-4C6F-07EF-4238775AB95E}"/>
              </a:ext>
            </a:extLst>
          </p:cNvPr>
          <p:cNvSpPr/>
          <p:nvPr/>
        </p:nvSpPr>
        <p:spPr>
          <a:xfrm>
            <a:off x="723900" y="1866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115DE30-00BE-5989-B4AB-B14B1022F4F0}"/>
              </a:ext>
            </a:extLst>
          </p:cNvPr>
          <p:cNvSpPr/>
          <p:nvPr/>
        </p:nvSpPr>
        <p:spPr>
          <a:xfrm>
            <a:off x="723900" y="2438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728EF66-FEAD-F885-F11F-B915F973954C}"/>
              </a:ext>
            </a:extLst>
          </p:cNvPr>
          <p:cNvSpPr/>
          <p:nvPr/>
        </p:nvSpPr>
        <p:spPr>
          <a:xfrm>
            <a:off x="723900" y="3009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9566947-909F-32D4-B5B0-4A70C92B389D}"/>
              </a:ext>
            </a:extLst>
          </p:cNvPr>
          <p:cNvSpPr/>
          <p:nvPr/>
        </p:nvSpPr>
        <p:spPr>
          <a:xfrm>
            <a:off x="723900" y="3581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40C91FC-91FE-DF66-D844-BB825CA3E4AB}"/>
              </a:ext>
            </a:extLst>
          </p:cNvPr>
          <p:cNvSpPr/>
          <p:nvPr/>
        </p:nvSpPr>
        <p:spPr>
          <a:xfrm>
            <a:off x="952500" y="47244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5BA2190-0232-E64C-04F9-88F9E29363A8}"/>
              </a:ext>
            </a:extLst>
          </p:cNvPr>
          <p:cNvSpPr/>
          <p:nvPr/>
        </p:nvSpPr>
        <p:spPr>
          <a:xfrm>
            <a:off x="732808" y="5454650"/>
            <a:ext cx="1038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40E314A-1C2B-78BA-0139-E25177F36A8B}"/>
              </a:ext>
            </a:extLst>
          </p:cNvPr>
          <p:cNvSpPr/>
          <p:nvPr/>
        </p:nvSpPr>
        <p:spPr>
          <a:xfrm>
            <a:off x="1627436" y="5238750"/>
            <a:ext cx="4125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F06741C-D1AD-0C9D-C100-D3BF2B9D8670}"/>
              </a:ext>
            </a:extLst>
          </p:cNvPr>
          <p:cNvSpPr/>
          <p:nvPr/>
        </p:nvSpPr>
        <p:spPr>
          <a:xfrm>
            <a:off x="1627436" y="5505450"/>
            <a:ext cx="412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DFF08F0-43F1-FCEE-4554-56DA39707630}"/>
              </a:ext>
            </a:extLst>
          </p:cNvPr>
          <p:cNvSpPr/>
          <p:nvPr/>
        </p:nvSpPr>
        <p:spPr>
          <a:xfrm>
            <a:off x="723900" y="62103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C1A50A6-F947-036A-8524-B7A3D4129471}"/>
              </a:ext>
            </a:extLst>
          </p:cNvPr>
          <p:cNvSpPr/>
          <p:nvPr/>
        </p:nvSpPr>
        <p:spPr>
          <a:xfrm>
            <a:off x="732808" y="65436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C00807DF-F7B8-0420-4626-2D1519378121}"/>
              </a:ext>
            </a:extLst>
          </p:cNvPr>
          <p:cNvSpPr/>
          <p:nvPr/>
        </p:nvSpPr>
        <p:spPr>
          <a:xfrm>
            <a:off x="1348230" y="1493693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altLang="zh-CN" b="1" dirty="0"/>
              <a:t>Upside Scenario</a:t>
            </a:r>
            <a:endParaRPr lang="en-US" sz="18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2F8E006-961C-9074-FF40-C18AB1F20CEB}"/>
              </a:ext>
            </a:extLst>
          </p:cNvPr>
          <p:cNvSpPr/>
          <p:nvPr/>
        </p:nvSpPr>
        <p:spPr>
          <a:xfrm>
            <a:off x="6553200" y="4267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253B60B9-DBBD-FE22-F740-D649CB972902}"/>
              </a:ext>
            </a:extLst>
          </p:cNvPr>
          <p:cNvSpPr/>
          <p:nvPr/>
        </p:nvSpPr>
        <p:spPr>
          <a:xfrm>
            <a:off x="6553200" y="4610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AD9D9A7-6FB8-F4A8-BB65-33FCE743E401}"/>
              </a:ext>
            </a:extLst>
          </p:cNvPr>
          <p:cNvSpPr/>
          <p:nvPr/>
        </p:nvSpPr>
        <p:spPr>
          <a:xfrm>
            <a:off x="6553200" y="4953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CF2174A-3496-A89D-7C83-6029AE0E4BDF}"/>
              </a:ext>
            </a:extLst>
          </p:cNvPr>
          <p:cNvSpPr/>
          <p:nvPr/>
        </p:nvSpPr>
        <p:spPr>
          <a:xfrm>
            <a:off x="6553200" y="5295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A7D66203-1104-5497-E021-CCAD56866C9E}"/>
              </a:ext>
            </a:extLst>
          </p:cNvPr>
          <p:cNvSpPr/>
          <p:nvPr/>
        </p:nvSpPr>
        <p:spPr>
          <a:xfrm>
            <a:off x="6553200" y="563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D1929EB1-6FAD-A945-F343-65005CEFBFEC}"/>
              </a:ext>
            </a:extLst>
          </p:cNvPr>
          <p:cNvSpPr/>
          <p:nvPr/>
        </p:nvSpPr>
        <p:spPr>
          <a:xfrm>
            <a:off x="381000" y="7810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7D2612-62AE-D81C-17C1-A9F4BAE98D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947" y="1809170"/>
            <a:ext cx="10791736" cy="5258089"/>
          </a:xfrm>
          <a:prstGeom prst="rect">
            <a:avLst/>
          </a:prstGeom>
        </p:spPr>
      </p:pic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72BA2997-5F5B-8281-B6E0-C79037F1E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448" y="1514185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00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8F39-AF82-4DF7-1BA6-AE9EFF20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2572DF7-13F8-348A-5030-BD3529273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E735D3E-786C-72D2-55B2-BEF0BCF0F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1E7CEBD-8065-6C38-8B33-312FAFBB1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713" y="895052"/>
            <a:ext cx="3414824" cy="2496146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8BC3E64-02BE-C227-D403-16B01420B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8" y="5864470"/>
            <a:ext cx="2439635" cy="179656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755B0CD-0ECF-F552-560B-2437E5CBA6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195692BE-8506-4B54-CF35-4A779F73A2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19200"/>
            <a:ext cx="5600700" cy="30480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C704716D-92EC-6410-BA3E-E90964C221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4763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84635191-2DEB-E3FC-3A79-C1DBEA73EA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495800"/>
            <a:ext cx="5600700" cy="30861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57933BC6-70C3-E680-F010-2030871833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529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21E913AE-E4D7-2AF7-D64B-629FCD8A35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143500"/>
            <a:ext cx="865436" cy="914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2C028F48-5E8F-3B1B-E345-A6675053C7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219200"/>
            <a:ext cx="5600700" cy="63627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A83DCBCE-80BE-AB0F-37DF-26C94070F8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476375"/>
            <a:ext cx="200025" cy="228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B2DD2754-36FB-FF4C-325F-22F7DA35DA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8229600"/>
            <a:ext cx="12192000" cy="1524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E401FCB8-8B77-BC33-6142-868D6324EE7F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Implementation Plan</a:t>
            </a:r>
            <a:endParaRPr lang="en-US" sz="27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E78355A-F7D1-7383-6F0D-A358BDA29E1F}"/>
              </a:ext>
            </a:extLst>
          </p:cNvPr>
          <p:cNvSpPr/>
          <p:nvPr/>
        </p:nvSpPr>
        <p:spPr>
          <a:xfrm>
            <a:off x="9525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Phased Pilot Approach</a:t>
            </a:r>
            <a:endParaRPr lang="en-US" sz="1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C8196CD-C5AA-B690-481B-9271A76509CE}"/>
              </a:ext>
            </a:extLst>
          </p:cNvPr>
          <p:cNvSpPr/>
          <p:nvPr/>
        </p:nvSpPr>
        <p:spPr>
          <a:xfrm>
            <a:off x="723900" y="1866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 a select number of the client's 244 properties to short-term rentals</a:t>
            </a: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8D24E15-679D-40AD-3ACC-3A9A8D180C1B}"/>
              </a:ext>
            </a:extLst>
          </p:cNvPr>
          <p:cNvSpPr/>
          <p:nvPr/>
        </p:nvSpPr>
        <p:spPr>
          <a:xfrm>
            <a:off x="723900" y="2363643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phase: Identify and convert 16 two-bedroom houses in high-demand urban areas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1D9FF45-5AD7-AED0-40DF-E9C58D591188}"/>
              </a:ext>
            </a:extLst>
          </p:cNvPr>
          <p:cNvSpPr/>
          <p:nvPr/>
        </p:nvSpPr>
        <p:spPr>
          <a:xfrm>
            <a:off x="723900" y="3009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Subsequent phases: Expand based on performance and market response</a:t>
            </a: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EEE6399-3A5B-5B04-0F6B-77E582C39E07}"/>
              </a:ext>
            </a:extLst>
          </p:cNvPr>
          <p:cNvSpPr/>
          <p:nvPr/>
        </p:nvSpPr>
        <p:spPr>
          <a:xfrm>
            <a:off x="723900" y="3581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existing management expertise and client's property portfolio</a:t>
            </a:r>
            <a:endParaRPr lang="en-US" sz="1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C0B8D4B-D006-7A60-B07A-0DF3AE19F4C3}"/>
              </a:ext>
            </a:extLst>
          </p:cNvPr>
          <p:cNvSpPr/>
          <p:nvPr/>
        </p:nvSpPr>
        <p:spPr>
          <a:xfrm>
            <a:off x="952500" y="47244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Allocation</a:t>
            </a:r>
            <a:endParaRPr lang="en-US" sz="18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11D25AD-87B8-8CE3-5B1D-57EE095475AF}"/>
              </a:ext>
            </a:extLst>
          </p:cNvPr>
          <p:cNvSpPr/>
          <p:nvPr/>
        </p:nvSpPr>
        <p:spPr>
          <a:xfrm>
            <a:off x="732808" y="5454650"/>
            <a:ext cx="1038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$500K</a:t>
            </a:r>
            <a:endParaRPr lang="en-US" sz="18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3BED997E-DF66-612E-9C5A-486D21E079F6}"/>
              </a:ext>
            </a:extLst>
          </p:cNvPr>
          <p:cNvSpPr/>
          <p:nvPr/>
        </p:nvSpPr>
        <p:spPr>
          <a:xfrm>
            <a:off x="1627436" y="5238750"/>
            <a:ext cx="4125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Working Capital</a:t>
            </a:r>
            <a:endParaRPr lang="en-US" sz="15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C20201A-A931-D50C-AFB1-C355245F83E6}"/>
              </a:ext>
            </a:extLst>
          </p:cNvPr>
          <p:cNvSpPr/>
          <p:nvPr/>
        </p:nvSpPr>
        <p:spPr>
          <a:xfrm>
            <a:off x="1627436" y="5505450"/>
            <a:ext cx="412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Committed by Watershed executives for this pilot project</a:t>
            </a: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29CF485-0C50-91B6-688D-8FA6FB4ABC52}"/>
              </a:ext>
            </a:extLst>
          </p:cNvPr>
          <p:cNvSpPr/>
          <p:nvPr/>
        </p:nvSpPr>
        <p:spPr>
          <a:xfrm>
            <a:off x="723900" y="62103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Furnishing Costs: 96%</a:t>
            </a: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2A8FF6B-FAC2-5DBA-1062-2EDD7AA77785}"/>
              </a:ext>
            </a:extLst>
          </p:cNvPr>
          <p:cNvSpPr/>
          <p:nvPr/>
        </p:nvSpPr>
        <p:spPr>
          <a:xfrm>
            <a:off x="732808" y="65436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Contingency fund: 4%</a:t>
            </a:r>
            <a:endParaRPr lang="en-US" sz="12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98598565-2B07-ADB7-FF22-40288F445328}"/>
              </a:ext>
            </a:extLst>
          </p:cNvPr>
          <p:cNvSpPr/>
          <p:nvPr/>
        </p:nvSpPr>
        <p:spPr>
          <a:xfrm>
            <a:off x="6753225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Timeline</a:t>
            </a:r>
            <a:endParaRPr lang="en-US" sz="18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4F36C884-10D8-9ED0-B0B9-CD961A34CE8E}"/>
              </a:ext>
            </a:extLst>
          </p:cNvPr>
          <p:cNvSpPr/>
          <p:nvPr/>
        </p:nvSpPr>
        <p:spPr>
          <a:xfrm>
            <a:off x="6438900" y="39243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Success Factors: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01C3B2F3-FF6A-67EB-8BA0-CEAA274BEC52}"/>
              </a:ext>
            </a:extLst>
          </p:cNvPr>
          <p:cNvSpPr/>
          <p:nvPr/>
        </p:nvSpPr>
        <p:spPr>
          <a:xfrm>
            <a:off x="6553200" y="4267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metrics tracking and reporting system</a:t>
            </a:r>
            <a:endParaRPr lang="en-US" sz="12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5190CEA8-5D36-AC26-2858-B5826E4B52E6}"/>
              </a:ext>
            </a:extLst>
          </p:cNvPr>
          <p:cNvSpPr/>
          <p:nvPr/>
        </p:nvSpPr>
        <p:spPr>
          <a:xfrm>
            <a:off x="6553200" y="4610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response and occupancy rate monitoring</a:t>
            </a: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1D34EBD0-EFB3-5B97-9680-C90B7F3BA331}"/>
              </a:ext>
            </a:extLst>
          </p:cNvPr>
          <p:cNvSpPr/>
          <p:nvPr/>
        </p:nvSpPr>
        <p:spPr>
          <a:xfrm>
            <a:off x="6553200" y="4953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control and guest satisfaction standards</a:t>
            </a:r>
            <a:endParaRPr lang="en-US" sz="12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3628B40-B33B-B4E3-CEE2-090330C5EA23}"/>
              </a:ext>
            </a:extLst>
          </p:cNvPr>
          <p:cNvSpPr/>
          <p:nvPr/>
        </p:nvSpPr>
        <p:spPr>
          <a:xfrm>
            <a:off x="6553200" y="5295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Scalability assessment after each phase</a:t>
            </a:r>
            <a:endParaRPr lang="en-US" sz="1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E0FF4F34-2DD4-61D9-4DEA-D6667AFD025F}"/>
              </a:ext>
            </a:extLst>
          </p:cNvPr>
          <p:cNvSpPr/>
          <p:nvPr/>
        </p:nvSpPr>
        <p:spPr>
          <a:xfrm>
            <a:off x="6553200" y="563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review and adjustment of strategy</a:t>
            </a:r>
            <a:endParaRPr lang="en-US" sz="12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40BDD7D3-5AE6-B503-A99B-3AE96C5DCCFA}"/>
              </a:ext>
            </a:extLst>
          </p:cNvPr>
          <p:cNvSpPr/>
          <p:nvPr/>
        </p:nvSpPr>
        <p:spPr>
          <a:xfrm>
            <a:off x="381000" y="7810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79DDAFA7-0433-B1D9-EFB8-37B263A2B1F9}"/>
              </a:ext>
            </a:extLst>
          </p:cNvPr>
          <p:cNvSpPr/>
          <p:nvPr/>
        </p:nvSpPr>
        <p:spPr>
          <a:xfrm>
            <a:off x="6609773" y="2273546"/>
            <a:ext cx="4499263" cy="242088"/>
          </a:xfrm>
          <a:prstGeom prst="round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9C8E22-1C34-EB25-5CCC-2D8AD47D9205}"/>
              </a:ext>
            </a:extLst>
          </p:cNvPr>
          <p:cNvSpPr/>
          <p:nvPr/>
        </p:nvSpPr>
        <p:spPr>
          <a:xfrm>
            <a:off x="6609773" y="21717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4F3653-17C0-EF98-43CF-035864A6B957}"/>
              </a:ext>
            </a:extLst>
          </p:cNvPr>
          <p:cNvSpPr/>
          <p:nvPr/>
        </p:nvSpPr>
        <p:spPr>
          <a:xfrm>
            <a:off x="8683786" y="21717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2E2F3BE-ACC1-286D-330C-8C6B0C491E09}"/>
              </a:ext>
            </a:extLst>
          </p:cNvPr>
          <p:cNvSpPr/>
          <p:nvPr/>
        </p:nvSpPr>
        <p:spPr>
          <a:xfrm>
            <a:off x="10651836" y="21717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5D3BD-D29D-8DDE-E6D5-EB78B764C94C}"/>
              </a:ext>
            </a:extLst>
          </p:cNvPr>
          <p:cNvSpPr txBox="1"/>
          <p:nvPr/>
        </p:nvSpPr>
        <p:spPr>
          <a:xfrm>
            <a:off x="6486628" y="1742166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Phase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DDA5C5-B3C6-3742-C66F-7AFBA49B98F6}"/>
              </a:ext>
            </a:extLst>
          </p:cNvPr>
          <p:cNvSpPr txBox="1"/>
          <p:nvPr/>
        </p:nvSpPr>
        <p:spPr>
          <a:xfrm>
            <a:off x="8360792" y="1759136"/>
            <a:ext cx="11031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Phase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367F75-AF68-4641-57E0-01B1C89DECE2}"/>
              </a:ext>
            </a:extLst>
          </p:cNvPr>
          <p:cNvSpPr txBox="1"/>
          <p:nvPr/>
        </p:nvSpPr>
        <p:spPr>
          <a:xfrm>
            <a:off x="10328843" y="1742166"/>
            <a:ext cx="11031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Phase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30F5BC1E-64B4-C997-E0A4-D2FD4B499274}"/>
              </a:ext>
            </a:extLst>
          </p:cNvPr>
          <p:cNvSpPr/>
          <p:nvPr/>
        </p:nvSpPr>
        <p:spPr>
          <a:xfrm>
            <a:off x="6272633" y="2781300"/>
            <a:ext cx="1280160" cy="329184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Current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6A2D8-9C54-7B90-1DD1-132A8E12E06C}"/>
              </a:ext>
            </a:extLst>
          </p:cNvPr>
          <p:cNvSpPr txBox="1"/>
          <p:nvPr/>
        </p:nvSpPr>
        <p:spPr>
          <a:xfrm>
            <a:off x="6214788" y="3155603"/>
            <a:ext cx="15641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C7D"/>
                </a:solidFill>
                <a:latin typeface="Segoe UI"/>
              </a:defRPr>
            </a:pPr>
            <a:r>
              <a:rPr lang="en-US" altLang="zh-CN" sz="1200" dirty="0"/>
              <a:t>Pilot Planning &amp; </a:t>
            </a:r>
            <a:br>
              <a:rPr lang="en-US" altLang="zh-CN" sz="1200" dirty="0"/>
            </a:br>
            <a:r>
              <a:rPr lang="en-US" altLang="zh-CN" sz="1200" dirty="0"/>
              <a:t>Property Conversion</a:t>
            </a:r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4FA145-8F8A-9487-C230-44657419F174}"/>
              </a:ext>
            </a:extLst>
          </p:cNvPr>
          <p:cNvSpPr txBox="1"/>
          <p:nvPr/>
        </p:nvSpPr>
        <p:spPr>
          <a:xfrm>
            <a:off x="8375216" y="3141994"/>
            <a:ext cx="10743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C7D"/>
                </a:solidFill>
                <a:latin typeface="Segoe UI"/>
              </a:defRPr>
            </a:pPr>
            <a:r>
              <a:rPr lang="en-US" sz="1200" dirty="0"/>
              <a:t>Operation &amp; </a:t>
            </a:r>
            <a:br>
              <a:rPr lang="en-US" sz="1200" dirty="0"/>
            </a:br>
            <a:r>
              <a:rPr lang="en-US" sz="1200" dirty="0"/>
              <a:t>Optimization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E158DD-C6C2-24DC-8763-E44697F7D0BE}"/>
              </a:ext>
            </a:extLst>
          </p:cNvPr>
          <p:cNvSpPr txBox="1"/>
          <p:nvPr/>
        </p:nvSpPr>
        <p:spPr>
          <a:xfrm>
            <a:off x="10234265" y="3128216"/>
            <a:ext cx="12634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C7D"/>
                </a:solidFill>
                <a:latin typeface="Segoe UI"/>
              </a:defRPr>
            </a:pPr>
            <a:r>
              <a:rPr lang="en-US" sz="1200" dirty="0"/>
              <a:t>Full-Scale</a:t>
            </a:r>
            <a:br>
              <a:rPr lang="en-US" sz="1200" dirty="0"/>
            </a:br>
            <a:r>
              <a:rPr lang="en-US" sz="1200" dirty="0"/>
              <a:t>Implementation</a:t>
            </a:r>
            <a:endParaRPr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286F96-596F-2DE3-8958-FF627F1A75CD}"/>
              </a:ext>
            </a:extLst>
          </p:cNvPr>
          <p:cNvSpPr/>
          <p:nvPr/>
        </p:nvSpPr>
        <p:spPr>
          <a:xfrm>
            <a:off x="7066973" y="2288796"/>
            <a:ext cx="1319628" cy="208219"/>
          </a:xfrm>
          <a:prstGeom prst="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99795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70D8-B1D0-67A7-894C-A935EC6B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4FB44AA-08BE-73B4-81BC-A96C5AB49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64FB48B-C4B5-896D-9A4D-B834F17AA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586" y="378508"/>
            <a:ext cx="3954328" cy="305298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275CCC0-1A07-8E3D-FB72-CF5B8C2DB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79" y="4617968"/>
            <a:ext cx="2922243" cy="200356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A762C1A-40A1-1FC8-FED3-4B0F271D5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175B420C-14D0-A3B1-BBD6-4C5E65803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96100"/>
            <a:ext cx="12192000" cy="1524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707DC709-8C61-9642-F6E6-8A4E95AA764E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altLang="zh-CN" b="1" dirty="0"/>
              <a:t>Watershed Short Term Profitability Dashboard</a:t>
            </a:r>
            <a:endParaRPr lang="en-US" sz="27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1CBB4E11-8160-0D7B-17C4-1BC83E6412C1}"/>
              </a:ext>
            </a:extLst>
          </p:cNvPr>
          <p:cNvSpPr/>
          <p:nvPr/>
        </p:nvSpPr>
        <p:spPr>
          <a:xfrm>
            <a:off x="381000" y="64770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EF9CBA-E2F3-2EE9-461E-7C092C3250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932575"/>
            <a:ext cx="11049000" cy="55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9DA4C-78F4-27C1-8F85-D74F72D3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F6D371-7159-3B38-F6F4-9F550455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C00E81C-AB5A-BFD1-5CE4-3BD628168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A3A4715-FBCD-1892-6675-C033E392E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222" y="676394"/>
            <a:ext cx="3453806" cy="2552462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C6DFF135-63DB-5B57-F4FD-5B9716701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8" y="4340470"/>
            <a:ext cx="2439635" cy="179656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671B787B-80F8-A841-A4E2-43020614AC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765DA961-4743-23C5-98CE-144CC43B4C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17" y="1210758"/>
            <a:ext cx="5600700" cy="491783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01D576EA-E92F-BCF9-3070-3A507F51B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4382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F36E0083-0E1C-7EB3-18CD-8A2FF29866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1828800"/>
            <a:ext cx="2533650" cy="14097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8B8CE4DF-8B90-0445-4A99-D4998EBFFA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9431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C0F5D4F3-B99F-FE50-02E5-E0F32F7B7A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20574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EF1E8EFD-F4C5-B4DD-BDCB-D38E5BB8D4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7550" y="1828800"/>
            <a:ext cx="2533650" cy="14097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2A85B892-AEF0-B838-DE20-153F45A0C1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1850" y="19431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AAB24C1A-7E18-FE9B-CDB2-09F41C17DB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219200"/>
            <a:ext cx="5600700" cy="491783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E22E6E96-FD29-0F85-A95A-F79058CA98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4382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D7F4B85C-00A7-199F-2B79-CF42498D77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828800"/>
            <a:ext cx="2533650" cy="14478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889549BD-9FB7-26BA-A6F9-EEDFBAC8AE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19431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71BFA244-4D7A-D19A-563A-DE089B77DA9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2057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3127BCDE-9960-1025-AB88-61423BC300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6850" y="1828800"/>
            <a:ext cx="2533650" cy="14478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7F0800D2-4D8D-1612-11F5-29C5436A79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1150" y="19431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7A9E1BB3-8AC5-2FBE-3D4E-4A9F4CD4ADD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6400" y="20574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21AB785B-72DB-B29B-B83E-DDE83A8DF02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429000"/>
            <a:ext cx="2533650" cy="12573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474C8067-DECE-8D6E-F97E-C330F3272B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5433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35580C46-CEB2-E93B-DA30-151BCACB372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0350" y="36576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8BB3BA64-0C49-05D9-2256-A864B0E65A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86850" y="3429000"/>
            <a:ext cx="2533650" cy="1257300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C52ED247-26FF-8DA3-169A-2C8C64D12D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1150" y="35433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>
            <a:extLst>
              <a:ext uri="{FF2B5EF4-FFF2-40B4-BE49-F238E27FC236}">
                <a16:creationId xmlns:a16="http://schemas.microsoft.com/office/drawing/2014/main" id="{28FA9863-2E4E-248A-1EFC-1D13B75FBBE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5450" y="36576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
            <a:extLst>
              <a:ext uri="{FF2B5EF4-FFF2-40B4-BE49-F238E27FC236}">
                <a16:creationId xmlns:a16="http://schemas.microsoft.com/office/drawing/2014/main" id="{8D42D6D8-7A79-8ADE-103C-7BA073DBCD6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4CC1F770-05FD-E737-5EF8-5DFF776916FF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Financial Analysis &amp; Risk Assessment</a:t>
            </a:r>
            <a:endParaRPr lang="en-US" sz="27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3610E07-4AE4-59B3-A9EF-87882D5AB2A3}"/>
              </a:ext>
            </a:extLst>
          </p:cNvPr>
          <p:cNvSpPr/>
          <p:nvPr/>
        </p:nvSpPr>
        <p:spPr>
          <a:xfrm>
            <a:off x="914400" y="14097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Potential</a:t>
            </a:r>
            <a:endParaRPr lang="en-US" sz="18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6F1530CB-5891-2243-D640-53A250D25CB6}"/>
              </a:ext>
            </a:extLst>
          </p:cNvPr>
          <p:cNvSpPr/>
          <p:nvPr/>
        </p:nvSpPr>
        <p:spPr>
          <a:xfrm>
            <a:off x="1181100" y="2000250"/>
            <a:ext cx="1924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Cash Flow</a:t>
            </a:r>
            <a:r>
              <a:rPr lang="en-US" altLang="zh-CN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(Conversion Year)</a:t>
            </a:r>
            <a:endParaRPr lang="en-US" sz="135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DEFB5E84-C4B9-CC1D-4108-812214B688EB}"/>
              </a:ext>
            </a:extLst>
          </p:cNvPr>
          <p:cNvSpPr/>
          <p:nvPr/>
        </p:nvSpPr>
        <p:spPr>
          <a:xfrm>
            <a:off x="685800" y="2857500"/>
            <a:ext cx="2766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$0.25M</a:t>
            </a:r>
            <a:endParaRPr lang="en-US" sz="15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28D5B245-3367-B941-E2E8-D1A6C5394698}"/>
              </a:ext>
            </a:extLst>
          </p:cNvPr>
          <p:cNvSpPr/>
          <p:nvPr/>
        </p:nvSpPr>
        <p:spPr>
          <a:xfrm>
            <a:off x="3867150" y="2000250"/>
            <a:ext cx="2037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Cash Flow(After Conversion)</a:t>
            </a:r>
            <a:endParaRPr lang="en-US" sz="135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889C91AC-ED86-5F16-104A-AC43725787D0}"/>
              </a:ext>
            </a:extLst>
          </p:cNvPr>
          <p:cNvSpPr/>
          <p:nvPr/>
        </p:nvSpPr>
        <p:spPr>
          <a:xfrm>
            <a:off x="3371850" y="2857500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</a:rPr>
              <a:t>$0.64M</a:t>
            </a:r>
            <a:endParaRPr lang="en-US" sz="15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AAAE2B1F-CC10-22CA-16B0-851CB10C203B}"/>
              </a:ext>
            </a:extLst>
          </p:cNvPr>
          <p:cNvSpPr/>
          <p:nvPr/>
        </p:nvSpPr>
        <p:spPr>
          <a:xfrm>
            <a:off x="571500" y="4576375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Financial Metrics:</a:t>
            </a:r>
            <a:endParaRPr lang="en-US" sz="13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D99CBD2A-42E7-3BA4-2B23-695608D48A61}"/>
              </a:ext>
            </a:extLst>
          </p:cNvPr>
          <p:cNvSpPr/>
          <p:nvPr/>
        </p:nvSpPr>
        <p:spPr>
          <a:xfrm>
            <a:off x="551071" y="5108112"/>
            <a:ext cx="3073191" cy="20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Profitability threshold: $6,000 per property</a:t>
            </a:r>
            <a:endParaRPr lang="en-US" sz="12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EB54D480-9D0A-7054-02CC-56A606744EF7}"/>
              </a:ext>
            </a:extLst>
          </p:cNvPr>
          <p:cNvSpPr/>
          <p:nvPr/>
        </p:nvSpPr>
        <p:spPr>
          <a:xfrm>
            <a:off x="550545" y="5340342"/>
            <a:ext cx="2949892" cy="24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Transaction fee: 20% of gross revenue</a:t>
            </a:r>
            <a:endParaRPr lang="en-US" sz="12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4C86AC86-4EA7-48C8-F8ED-7A18641F6255}"/>
              </a:ext>
            </a:extLst>
          </p:cNvPr>
          <p:cNvSpPr/>
          <p:nvPr/>
        </p:nvSpPr>
        <p:spPr>
          <a:xfrm>
            <a:off x="550545" y="5588497"/>
            <a:ext cx="2777490" cy="24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Regulatory fee: 10% of gross revenue</a:t>
            </a:r>
            <a:endParaRPr lang="en-US" sz="12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5D9BED1D-611E-BE2A-4984-3D812F3AF1A0}"/>
              </a:ext>
            </a:extLst>
          </p:cNvPr>
          <p:cNvSpPr/>
          <p:nvPr/>
        </p:nvSpPr>
        <p:spPr>
          <a:xfrm>
            <a:off x="551071" y="5811844"/>
            <a:ext cx="3330488" cy="28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Capital expenditure costs: $30,000 per property</a:t>
            </a:r>
            <a:endParaRPr lang="en-US" sz="12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177A870F-F382-F527-85DD-4E0FAFD0C1B1}"/>
              </a:ext>
            </a:extLst>
          </p:cNvPr>
          <p:cNvSpPr/>
          <p:nvPr/>
        </p:nvSpPr>
        <p:spPr>
          <a:xfrm>
            <a:off x="6743700" y="14097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EC38C572-C704-DAFC-0D5D-6B3451B724B9}"/>
              </a:ext>
            </a:extLst>
          </p:cNvPr>
          <p:cNvSpPr/>
          <p:nvPr/>
        </p:nvSpPr>
        <p:spPr>
          <a:xfrm>
            <a:off x="7010400" y="2000250"/>
            <a:ext cx="11990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Risk</a:t>
            </a:r>
            <a:endParaRPr lang="en-US" sz="135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CEE696EF-2036-23B2-96BE-667711C1F5AB}"/>
              </a:ext>
            </a:extLst>
          </p:cNvPr>
          <p:cNvSpPr/>
          <p:nvPr/>
        </p:nvSpPr>
        <p:spPr>
          <a:xfrm>
            <a:off x="6553200" y="24003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demand fluctuations</a:t>
            </a:r>
            <a:endParaRPr lang="en-US" sz="105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2D0F9902-2550-3D61-F3FB-F1C6AD999651}"/>
              </a:ext>
            </a:extLst>
          </p:cNvPr>
          <p:cNvSpPr/>
          <p:nvPr/>
        </p:nvSpPr>
        <p:spPr>
          <a:xfrm>
            <a:off x="6553200" y="259080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Competition from established players</a:t>
            </a:r>
            <a:endParaRPr lang="en-US" sz="105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60C313B4-9A72-635B-4AA0-8CF3AD68114D}"/>
              </a:ext>
            </a:extLst>
          </p:cNvPr>
          <p:cNvSpPr/>
          <p:nvPr/>
        </p:nvSpPr>
        <p:spPr>
          <a:xfrm>
            <a:off x="9696450" y="2000250"/>
            <a:ext cx="1698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Risk</a:t>
            </a:r>
            <a:endParaRPr lang="en-US" sz="135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59F764F2-C794-4089-42FB-17F731A91130}"/>
              </a:ext>
            </a:extLst>
          </p:cNvPr>
          <p:cNvSpPr/>
          <p:nvPr/>
        </p:nvSpPr>
        <p:spPr>
          <a:xfrm>
            <a:off x="9239250" y="240030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Property management complexity</a:t>
            </a:r>
            <a:endParaRPr lang="en-US" sz="105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923B035D-9432-1D6E-A691-B1B0064CC8B5}"/>
              </a:ext>
            </a:extLst>
          </p:cNvPr>
          <p:cNvSpPr/>
          <p:nvPr/>
        </p:nvSpPr>
        <p:spPr>
          <a:xfrm>
            <a:off x="9239250" y="278130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Staffing and maintenance challenges</a:t>
            </a:r>
            <a:endParaRPr lang="en-US" sz="105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A867AFF4-7475-4DD4-AF3A-F704E544FEFE}"/>
              </a:ext>
            </a:extLst>
          </p:cNvPr>
          <p:cNvSpPr/>
          <p:nvPr/>
        </p:nvSpPr>
        <p:spPr>
          <a:xfrm>
            <a:off x="7010400" y="3600450"/>
            <a:ext cx="1609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Regulatory Risk</a:t>
            </a:r>
            <a:endParaRPr lang="en-US" sz="135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D1928EA8-74B8-7DDD-B34B-9259687EC916}"/>
              </a:ext>
            </a:extLst>
          </p:cNvPr>
          <p:cNvSpPr/>
          <p:nvPr/>
        </p:nvSpPr>
        <p:spPr>
          <a:xfrm>
            <a:off x="6553200" y="40005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zoning restrictions</a:t>
            </a:r>
            <a:endParaRPr lang="en-US" sz="1050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A774B2F8-CAAC-1211-6B3A-8DBC1516178C}"/>
              </a:ext>
            </a:extLst>
          </p:cNvPr>
          <p:cNvSpPr/>
          <p:nvPr/>
        </p:nvSpPr>
        <p:spPr>
          <a:xfrm>
            <a:off x="6553200" y="41910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Short-term rental regulations</a:t>
            </a:r>
            <a:endParaRPr lang="en-US" sz="105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33D00D61-1B55-9B44-89EE-CE579FADBF8E}"/>
              </a:ext>
            </a:extLst>
          </p:cNvPr>
          <p:cNvSpPr/>
          <p:nvPr/>
        </p:nvSpPr>
        <p:spPr>
          <a:xfrm>
            <a:off x="9696450" y="3600450"/>
            <a:ext cx="1777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Capital Efficiency</a:t>
            </a:r>
            <a:endParaRPr lang="en-US" sz="135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15DD6CA7-C722-7F13-792C-7ADFF39DA652}"/>
              </a:ext>
            </a:extLst>
          </p:cNvPr>
          <p:cNvSpPr/>
          <p:nvPr/>
        </p:nvSpPr>
        <p:spPr>
          <a:xfrm>
            <a:off x="9239250" y="40005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capital: $500,000</a:t>
            </a:r>
            <a:endParaRPr lang="en-US" sz="105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4B2A3216-C6E1-EF6B-557F-490D3AB9103F}"/>
              </a:ext>
            </a:extLst>
          </p:cNvPr>
          <p:cNvSpPr/>
          <p:nvPr/>
        </p:nvSpPr>
        <p:spPr>
          <a:xfrm>
            <a:off x="9239250" y="419100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property conversion: </a:t>
            </a:r>
            <a:r>
              <a:rPr lang="en-US" sz="1050" b="1" dirty="0">
                <a:solidFill>
                  <a:srgbClr val="FF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units</a:t>
            </a:r>
            <a:endParaRPr lang="en-US" sz="105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94D18322-845D-9974-DA9A-FD4CF684D6D4}"/>
              </a:ext>
            </a:extLst>
          </p:cNvPr>
          <p:cNvSpPr/>
          <p:nvPr/>
        </p:nvSpPr>
        <p:spPr>
          <a:xfrm>
            <a:off x="381000" y="6286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57" name="Image 9" descr="preencoded.png">
            <a:extLst>
              <a:ext uri="{FF2B5EF4-FFF2-40B4-BE49-F238E27FC236}">
                <a16:creationId xmlns:a16="http://schemas.microsoft.com/office/drawing/2014/main" id="{0FB1D5C1-85FF-A5AA-FEA1-5E5821047E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86150" y="2057400"/>
            <a:ext cx="171450" cy="152400"/>
          </a:xfrm>
          <a:prstGeom prst="rect">
            <a:avLst/>
          </a:prstGeom>
        </p:spPr>
      </p:pic>
      <p:sp>
        <p:nvSpPr>
          <p:cNvPr id="58" name="Text 2">
            <a:extLst>
              <a:ext uri="{FF2B5EF4-FFF2-40B4-BE49-F238E27FC236}">
                <a16:creationId xmlns:a16="http://schemas.microsoft.com/office/drawing/2014/main" id="{91A33D4D-9F8B-B238-9646-29CA081525F8}"/>
              </a:ext>
            </a:extLst>
          </p:cNvPr>
          <p:cNvSpPr/>
          <p:nvPr/>
        </p:nvSpPr>
        <p:spPr>
          <a:xfrm>
            <a:off x="1181100" y="3387970"/>
            <a:ext cx="1924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Profits(Conversion Year)</a:t>
            </a:r>
            <a:endParaRPr lang="en-US" sz="1350" dirty="0"/>
          </a:p>
        </p:txBody>
      </p:sp>
      <p:pic>
        <p:nvPicPr>
          <p:cNvPr id="59" name="Image 8" descr="preencoded.png">
            <a:extLst>
              <a:ext uri="{FF2B5EF4-FFF2-40B4-BE49-F238E27FC236}">
                <a16:creationId xmlns:a16="http://schemas.microsoft.com/office/drawing/2014/main" id="{EA1326F1-FCA3-8263-A4D1-E73E1C9284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023" y="3294733"/>
            <a:ext cx="381000" cy="381000"/>
          </a:xfrm>
          <a:prstGeom prst="rect">
            <a:avLst/>
          </a:prstGeom>
        </p:spPr>
      </p:pic>
      <p:pic>
        <p:nvPicPr>
          <p:cNvPr id="60" name="Image 12" descr="preencoded.png">
            <a:extLst>
              <a:ext uri="{FF2B5EF4-FFF2-40B4-BE49-F238E27FC236}">
                <a16:creationId xmlns:a16="http://schemas.microsoft.com/office/drawing/2014/main" id="{F8662090-D127-A20D-15A1-2AC5B87555B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387" y="3420099"/>
            <a:ext cx="123825" cy="152400"/>
          </a:xfrm>
          <a:prstGeom prst="rect">
            <a:avLst/>
          </a:prstGeom>
        </p:spPr>
      </p:pic>
      <p:sp>
        <p:nvSpPr>
          <p:cNvPr id="63" name="Text 4">
            <a:extLst>
              <a:ext uri="{FF2B5EF4-FFF2-40B4-BE49-F238E27FC236}">
                <a16:creationId xmlns:a16="http://schemas.microsoft.com/office/drawing/2014/main" id="{0A88328F-BA1A-60C6-FF04-1A83DAC5D425}"/>
              </a:ext>
            </a:extLst>
          </p:cNvPr>
          <p:cNvSpPr/>
          <p:nvPr/>
        </p:nvSpPr>
        <p:spPr>
          <a:xfrm>
            <a:off x="685800" y="4108545"/>
            <a:ext cx="2766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$0.64M</a:t>
            </a:r>
            <a:endParaRPr lang="en-US" sz="1500" dirty="0"/>
          </a:p>
        </p:txBody>
      </p:sp>
      <p:pic>
        <p:nvPicPr>
          <p:cNvPr id="64" name="Image 8" descr="preencoded.png">
            <a:extLst>
              <a:ext uri="{FF2B5EF4-FFF2-40B4-BE49-F238E27FC236}">
                <a16:creationId xmlns:a16="http://schemas.microsoft.com/office/drawing/2014/main" id="{95C8148B-9723-2BE6-6114-C4D3EF0BE0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7991" y="3293680"/>
            <a:ext cx="381000" cy="381000"/>
          </a:xfrm>
          <a:prstGeom prst="rect">
            <a:avLst/>
          </a:prstGeom>
        </p:spPr>
      </p:pic>
      <p:pic>
        <p:nvPicPr>
          <p:cNvPr id="65" name="Image 12" descr="preencoded.png">
            <a:extLst>
              <a:ext uri="{FF2B5EF4-FFF2-40B4-BE49-F238E27FC236}">
                <a16:creationId xmlns:a16="http://schemas.microsoft.com/office/drawing/2014/main" id="{EEEBDD11-B0AA-C08A-F729-DC13A0BF872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00437" y="3420099"/>
            <a:ext cx="123825" cy="152400"/>
          </a:xfrm>
          <a:prstGeom prst="rect">
            <a:avLst/>
          </a:prstGeom>
        </p:spPr>
      </p:pic>
      <p:sp>
        <p:nvSpPr>
          <p:cNvPr id="67" name="Text 2">
            <a:extLst>
              <a:ext uri="{FF2B5EF4-FFF2-40B4-BE49-F238E27FC236}">
                <a16:creationId xmlns:a16="http://schemas.microsoft.com/office/drawing/2014/main" id="{E818E0ED-973C-75CC-8521-D83399BA3F19}"/>
              </a:ext>
            </a:extLst>
          </p:cNvPr>
          <p:cNvSpPr/>
          <p:nvPr/>
        </p:nvSpPr>
        <p:spPr>
          <a:xfrm>
            <a:off x="3923764" y="3390900"/>
            <a:ext cx="1924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Profits(After Conversion)</a:t>
            </a:r>
            <a:endParaRPr lang="en-US" sz="13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93350A1E-58E2-F3C4-97CD-4D66A4022E0C}"/>
              </a:ext>
            </a:extLst>
          </p:cNvPr>
          <p:cNvSpPr/>
          <p:nvPr/>
        </p:nvSpPr>
        <p:spPr>
          <a:xfrm>
            <a:off x="3406140" y="4103532"/>
            <a:ext cx="2766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2A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$0.54M</a:t>
            </a:r>
            <a:endParaRPr lang="en-US" sz="150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D9420949-AD22-BB6F-C7A7-30ABA3CCFCD6}"/>
              </a:ext>
            </a:extLst>
          </p:cNvPr>
          <p:cNvSpPr/>
          <p:nvPr/>
        </p:nvSpPr>
        <p:spPr>
          <a:xfrm>
            <a:off x="550545" y="4841587"/>
            <a:ext cx="3073191" cy="20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Yearly Upkeep: $6,000 per property</a:t>
            </a:r>
            <a:endParaRPr lang="en-US" sz="1200" dirty="0"/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311844B3-C9B4-73A0-DDC9-70E8EEB7E984}"/>
              </a:ext>
            </a:extLst>
          </p:cNvPr>
          <p:cNvSpPr/>
          <p:nvPr/>
        </p:nvSpPr>
        <p:spPr>
          <a:xfrm>
            <a:off x="3248643" y="4833277"/>
            <a:ext cx="2777490" cy="24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921029C7-84C9-CAB8-243E-A726A1A069C0}"/>
              </a:ext>
            </a:extLst>
          </p:cNvPr>
          <p:cNvSpPr/>
          <p:nvPr/>
        </p:nvSpPr>
        <p:spPr>
          <a:xfrm>
            <a:off x="3289667" y="4825534"/>
            <a:ext cx="2777490" cy="24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Monthly Utilities: $300 per property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2106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586" y="378508"/>
            <a:ext cx="3954328" cy="30529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79" y="4808468"/>
            <a:ext cx="2922243" cy="20035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19200"/>
            <a:ext cx="5600700" cy="2552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476375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52700"/>
            <a:ext cx="514350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962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908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000500"/>
            <a:ext cx="5600700" cy="2133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2576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219200"/>
            <a:ext cx="5600700" cy="5219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4763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9050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900" y="19050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552700"/>
            <a:ext cx="5143500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552700"/>
            <a:ext cx="1697236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28956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4150" y="297180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77190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38481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46482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4724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38900" y="55245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4150" y="56007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7086600"/>
            <a:ext cx="121920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 &amp; Next Steps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89535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Recommendation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609600" y="18669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Strategically enter the short-term rental market alongside our client through a phased pilot project.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990600" y="27051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Convert a select number of the client's 244 properties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990600" y="29337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Maximize potential profits while minimizing risks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990600" y="31623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Optimize use of $500,000 working capital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952500" y="42291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38" name="Text 7"/>
          <p:cNvSpPr/>
          <p:nvPr/>
        </p:nvSpPr>
        <p:spPr>
          <a:xfrm>
            <a:off x="723900" y="4648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a foothold in the growing short-term rental market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723900" y="4991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additional revenue streams for both parties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723900" y="5334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expertise through hands-on experience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23900" y="5676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scalable model for future expansion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67818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 Items for Executives</a:t>
            </a:r>
            <a:endParaRPr lang="en-US" sz="1800" dirty="0"/>
          </a:p>
        </p:txBody>
      </p:sp>
      <p:sp>
        <p:nvSpPr>
          <p:cNvPr id="43" name="Text 12"/>
          <p:cNvSpPr/>
          <p:nvPr/>
        </p:nvSpPr>
        <p:spPr>
          <a:xfrm>
            <a:off x="6509881" y="193996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1</a:t>
            </a:r>
            <a:endParaRPr lang="en-US" sz="1440" dirty="0"/>
          </a:p>
        </p:txBody>
      </p:sp>
      <p:sp>
        <p:nvSpPr>
          <p:cNvPr id="44" name="Text 13"/>
          <p:cNvSpPr/>
          <p:nvPr/>
        </p:nvSpPr>
        <p:spPr>
          <a:xfrm>
            <a:off x="8802542" y="194892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2</a:t>
            </a:r>
            <a:endParaRPr lang="en-US" sz="1440" dirty="0"/>
          </a:p>
        </p:txBody>
      </p:sp>
      <p:sp>
        <p:nvSpPr>
          <p:cNvPr id="45" name="Text 14"/>
          <p:cNvSpPr/>
          <p:nvPr/>
        </p:nvSpPr>
        <p:spPr>
          <a:xfrm>
            <a:off x="11081881" y="197995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3</a:t>
            </a:r>
            <a:endParaRPr lang="en-US" sz="1440" dirty="0"/>
          </a:p>
        </p:txBody>
      </p:sp>
      <p:sp>
        <p:nvSpPr>
          <p:cNvPr id="46" name="Text 15"/>
          <p:cNvSpPr/>
          <p:nvPr/>
        </p:nvSpPr>
        <p:spPr>
          <a:xfrm>
            <a:off x="6896100" y="28575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Market Analysis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6896100" y="31242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 the current short-term rental market conditions and competitive landscape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896100" y="3733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Engage with Client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6896100" y="40005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meeting with client to discuss partnership and property selection criteria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896100" y="46101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Property Selection</a:t>
            </a:r>
            <a:endParaRPr lang="en-US" sz="1350" dirty="0"/>
          </a:p>
        </p:txBody>
      </p:sp>
      <p:sp>
        <p:nvSpPr>
          <p:cNvPr id="51" name="Text 20"/>
          <p:cNvSpPr/>
          <p:nvPr/>
        </p:nvSpPr>
        <p:spPr>
          <a:xfrm>
            <a:off x="6896100" y="4876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and select optimal properties for the pilot program based on location, condition, and potential profits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6896100" y="54864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Finalize Agreements</a:t>
            </a:r>
            <a:endParaRPr lang="en-US" sz="1350" dirty="0"/>
          </a:p>
        </p:txBody>
      </p:sp>
      <p:sp>
        <p:nvSpPr>
          <p:cNvPr id="53" name="Text 22"/>
          <p:cNvSpPr/>
          <p:nvPr/>
        </p:nvSpPr>
        <p:spPr>
          <a:xfrm>
            <a:off x="6896100" y="57531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Draft and execute partnership agreement and investment allocation plan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381000" y="6667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55" name="Image 17" descr="preencoded.png">
            <a:extLst>
              <a:ext uri="{FF2B5EF4-FFF2-40B4-BE49-F238E27FC236}">
                <a16:creationId xmlns:a16="http://schemas.microsoft.com/office/drawing/2014/main" id="{5361074A-7B42-DF21-AC69-299E6DBE6CC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1561" y="1905000"/>
            <a:ext cx="571500" cy="571500"/>
          </a:xfrm>
          <a:prstGeom prst="rect">
            <a:avLst/>
          </a:prstGeom>
        </p:spPr>
      </p:pic>
      <p:sp>
        <p:nvSpPr>
          <p:cNvPr id="56" name="Text 12">
            <a:extLst>
              <a:ext uri="{FF2B5EF4-FFF2-40B4-BE49-F238E27FC236}">
                <a16:creationId xmlns:a16="http://schemas.microsoft.com/office/drawing/2014/main" id="{49A1568F-6CB9-7ACF-5ED2-7CBEA1FED705}"/>
              </a:ext>
            </a:extLst>
          </p:cNvPr>
          <p:cNvSpPr/>
          <p:nvPr/>
        </p:nvSpPr>
        <p:spPr>
          <a:xfrm>
            <a:off x="8802542" y="192987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2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E864-DE77-7E85-D4B9-78F709FC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6A3B334-03CF-28E3-D9BC-2BFFCB80A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15E8A21-55E5-432E-D114-CB6D43CF0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05A3C78-EFB4-BEDB-8775-39F47BB6C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586" y="378508"/>
            <a:ext cx="3954328" cy="305298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353FD66D-F665-F2E7-A2BC-A52BB43EB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79" y="4808468"/>
            <a:ext cx="2922243" cy="200356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E623DDC-AD87-78A0-F778-FB9CF15C0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47AF80A5-B8CF-EF61-DCD8-FE7CFF9F2D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19200"/>
            <a:ext cx="5600700" cy="25527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539F0067-6576-72DB-4246-1718D48EE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476375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EB6484B9-53F4-52FB-2635-9D0EC7123B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52700"/>
            <a:ext cx="5143500" cy="9906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3C019855-DC96-2D7A-DB9B-3B12C58D35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8EFDDC0A-F03A-A08A-73DE-B0A11C4654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962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34F080D4-DAC4-E4AE-4CFC-C8E5573335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908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5FE1C353-2FBE-99DB-C537-1E32908433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000500"/>
            <a:ext cx="5600700" cy="21336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94CBC7B5-D5B2-F80C-5883-C2853C39AA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2576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E0DDC47E-B9DE-7803-2F82-8C60D068979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219200"/>
            <a:ext cx="5600700" cy="52197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DB6B3E68-28F8-230B-2C69-0B30E88F539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4763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D4D0CA04-9DFF-4164-DFFC-9DB9391D9B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9050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1D5B9E14-8723-15CF-4297-EB3272E392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900" y="19050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F4CAD9DB-07DE-59CE-27B4-48FBF23DEFC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552700"/>
            <a:ext cx="5143500" cy="762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0091951B-6359-F02C-A720-D7C6703A796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552700"/>
            <a:ext cx="1697236" cy="762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A159A9EB-CCE5-8C89-2C5C-2079B5CECF8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28956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09D05D91-F7D6-F751-54E0-3D025A4F809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4150" y="297180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BA911DF6-62A1-CBA0-321A-BD3277BC297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77190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D40C710B-6F27-74E3-0FE6-9DC8D899E2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38481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EBFB9680-5693-FE62-C394-468758D64F3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46482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FA8A0D2B-2213-204C-01B4-25E479C8037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4724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
            <a:extLst>
              <a:ext uri="{FF2B5EF4-FFF2-40B4-BE49-F238E27FC236}">
                <a16:creationId xmlns:a16="http://schemas.microsoft.com/office/drawing/2014/main" id="{3EAF04F2-5F34-4C79-1314-F87BF6F0D2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38900" y="55245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>
            <a:extLst>
              <a:ext uri="{FF2B5EF4-FFF2-40B4-BE49-F238E27FC236}">
                <a16:creationId xmlns:a16="http://schemas.microsoft.com/office/drawing/2014/main" id="{B0A51405-A9E9-3949-9ECF-2900E240D0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4150" y="56007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>
            <a:extLst>
              <a:ext uri="{FF2B5EF4-FFF2-40B4-BE49-F238E27FC236}">
                <a16:creationId xmlns:a16="http://schemas.microsoft.com/office/drawing/2014/main" id="{EC61BB23-6D72-B165-E230-4E24D7D3A59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7086600"/>
            <a:ext cx="12192000" cy="152400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C45D691D-38B8-9CAE-272D-BC7A3B22A1B3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 &amp; Next Steps</a:t>
            </a:r>
            <a:endParaRPr lang="en-US" sz="27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6F5F93BF-802E-DDCC-C35C-16A26D89A7AD}"/>
              </a:ext>
            </a:extLst>
          </p:cNvPr>
          <p:cNvSpPr/>
          <p:nvPr/>
        </p:nvSpPr>
        <p:spPr>
          <a:xfrm>
            <a:off x="89535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Recommendation</a:t>
            </a:r>
            <a:endParaRPr lang="en-US" sz="18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8D982CF8-CFA5-9A52-43FE-7AFB93F9BAF9}"/>
              </a:ext>
            </a:extLst>
          </p:cNvPr>
          <p:cNvSpPr/>
          <p:nvPr/>
        </p:nvSpPr>
        <p:spPr>
          <a:xfrm>
            <a:off x="609600" y="18669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Strategically enter the short-term rental market alongside our client through a phased pilot project.</a:t>
            </a:r>
            <a:endParaRPr lang="en-US" sz="135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91F386C1-5C79-58EE-79CF-DF9CFDA87D96}"/>
              </a:ext>
            </a:extLst>
          </p:cNvPr>
          <p:cNvSpPr/>
          <p:nvPr/>
        </p:nvSpPr>
        <p:spPr>
          <a:xfrm>
            <a:off x="990600" y="27051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Convert a select number of the client's 244 properties</a:t>
            </a:r>
            <a:endParaRPr lang="en-US" sz="12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2137BC34-8B0A-0A9B-915A-0541E54F17F0}"/>
              </a:ext>
            </a:extLst>
          </p:cNvPr>
          <p:cNvSpPr/>
          <p:nvPr/>
        </p:nvSpPr>
        <p:spPr>
          <a:xfrm>
            <a:off x="990600" y="29337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Maximize potential profits while minimizing risks</a:t>
            </a:r>
            <a:endParaRPr lang="en-US" sz="12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CD58AC2-ABB7-33D2-6DCA-21CB0EC8FCB2}"/>
              </a:ext>
            </a:extLst>
          </p:cNvPr>
          <p:cNvSpPr/>
          <p:nvPr/>
        </p:nvSpPr>
        <p:spPr>
          <a:xfrm>
            <a:off x="990600" y="31623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Optimize use of $500,000 working capital</a:t>
            </a:r>
            <a:endParaRPr lang="en-US" sz="12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09535777-9978-54A3-DC9A-71AD4550B873}"/>
              </a:ext>
            </a:extLst>
          </p:cNvPr>
          <p:cNvSpPr/>
          <p:nvPr/>
        </p:nvSpPr>
        <p:spPr>
          <a:xfrm>
            <a:off x="952500" y="42291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127F8E4A-9DCE-698C-7BF8-A73DB7FF814F}"/>
              </a:ext>
            </a:extLst>
          </p:cNvPr>
          <p:cNvSpPr/>
          <p:nvPr/>
        </p:nvSpPr>
        <p:spPr>
          <a:xfrm>
            <a:off x="723900" y="4648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a foothold in the growing short-term rental market</a:t>
            </a:r>
            <a:endParaRPr lang="en-US" sz="12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274488CA-9E53-A634-A6D8-43683F8C8746}"/>
              </a:ext>
            </a:extLst>
          </p:cNvPr>
          <p:cNvSpPr/>
          <p:nvPr/>
        </p:nvSpPr>
        <p:spPr>
          <a:xfrm>
            <a:off x="723900" y="4991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additional revenue streams for both parties</a:t>
            </a:r>
            <a:endParaRPr lang="en-US" sz="12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BE40AB85-5697-49F8-CFE5-4F0D6AED3C9E}"/>
              </a:ext>
            </a:extLst>
          </p:cNvPr>
          <p:cNvSpPr/>
          <p:nvPr/>
        </p:nvSpPr>
        <p:spPr>
          <a:xfrm>
            <a:off x="723900" y="5334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expertise through hands-on experience</a:t>
            </a:r>
            <a:endParaRPr lang="en-US" sz="12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1D7B4183-B38C-665C-4C18-5BF69E8D9571}"/>
              </a:ext>
            </a:extLst>
          </p:cNvPr>
          <p:cNvSpPr/>
          <p:nvPr/>
        </p:nvSpPr>
        <p:spPr>
          <a:xfrm>
            <a:off x="723900" y="5676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scalable model for future expansion</a:t>
            </a:r>
            <a:endParaRPr lang="en-US" sz="12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CFDCE7D5-EFB7-7424-B5CF-7309E9014EE5}"/>
              </a:ext>
            </a:extLst>
          </p:cNvPr>
          <p:cNvSpPr/>
          <p:nvPr/>
        </p:nvSpPr>
        <p:spPr>
          <a:xfrm>
            <a:off x="67818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 Items for Executives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5581FEDC-DD8A-44A4-EC18-6B7FE0324D3E}"/>
              </a:ext>
            </a:extLst>
          </p:cNvPr>
          <p:cNvSpPr/>
          <p:nvPr/>
        </p:nvSpPr>
        <p:spPr>
          <a:xfrm>
            <a:off x="6509881" y="193996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1</a:t>
            </a:r>
            <a:endParaRPr lang="en-US" sz="144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91647EF3-5AEC-855A-A324-F75401EC7A53}"/>
              </a:ext>
            </a:extLst>
          </p:cNvPr>
          <p:cNvSpPr/>
          <p:nvPr/>
        </p:nvSpPr>
        <p:spPr>
          <a:xfrm>
            <a:off x="11081881" y="197995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3</a:t>
            </a:r>
            <a:endParaRPr lang="en-US" sz="144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3E1D8154-4C38-37A3-2E1B-51CEF2E9C9E8}"/>
              </a:ext>
            </a:extLst>
          </p:cNvPr>
          <p:cNvSpPr/>
          <p:nvPr/>
        </p:nvSpPr>
        <p:spPr>
          <a:xfrm>
            <a:off x="6896100" y="28575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 Launch &amp; Onboarding</a:t>
            </a:r>
            <a:endParaRPr lang="en-US" sz="13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5567EEA9-E94E-F5A7-7DAE-245643D483D3}"/>
              </a:ext>
            </a:extLst>
          </p:cNvPr>
          <p:cNvSpPr/>
          <p:nvPr/>
        </p:nvSpPr>
        <p:spPr>
          <a:xfrm>
            <a:off x="6896100" y="31242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 and activate 16 pilot properties; ensure compliance, readiness, and system integration.</a:t>
            </a:r>
            <a:endParaRPr lang="en-US" sz="12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3935600B-7CE4-93CC-0294-CE43FC3F668A}"/>
              </a:ext>
            </a:extLst>
          </p:cNvPr>
          <p:cNvSpPr/>
          <p:nvPr/>
        </p:nvSpPr>
        <p:spPr>
          <a:xfrm>
            <a:off x="6896100" y="3733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Trial Bookings &amp; Market Testing</a:t>
            </a:r>
            <a:endParaRPr lang="en-US" sz="135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5C603252-DC9D-F4B0-60FD-AC28DB96AC48}"/>
              </a:ext>
            </a:extLst>
          </p:cNvPr>
          <p:cNvSpPr/>
          <p:nvPr/>
        </p:nvSpPr>
        <p:spPr>
          <a:xfrm>
            <a:off x="6896100" y="40005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 listings to guests; monitor occupancy, pricing response, and guest satisfaction.</a:t>
            </a:r>
            <a:endParaRPr lang="en-US" sz="12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F84373E2-D847-D02E-017B-290A0A7107C9}"/>
              </a:ext>
            </a:extLst>
          </p:cNvPr>
          <p:cNvSpPr/>
          <p:nvPr/>
        </p:nvSpPr>
        <p:spPr>
          <a:xfrm>
            <a:off x="6896100" y="46101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 Optimization</a:t>
            </a:r>
            <a:endParaRPr lang="en-US" sz="135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44F08D6-AA0B-7923-BF68-EBCB17FE5552}"/>
              </a:ext>
            </a:extLst>
          </p:cNvPr>
          <p:cNvSpPr/>
          <p:nvPr/>
        </p:nvSpPr>
        <p:spPr>
          <a:xfrm>
            <a:off x="6896100" y="4876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Refine operational workflows — cleaning, check-in, and guest support — for efficiency.</a:t>
            </a:r>
            <a:endParaRPr lang="en-US" sz="12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019FD71B-5833-76AB-23FA-D782005758C1}"/>
              </a:ext>
            </a:extLst>
          </p:cNvPr>
          <p:cNvSpPr/>
          <p:nvPr/>
        </p:nvSpPr>
        <p:spPr>
          <a:xfrm>
            <a:off x="6896100" y="54864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Feedback Loop &amp; Continuous Improvement</a:t>
            </a:r>
            <a:endParaRPr lang="en-US" sz="13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B868D9-6335-ABFB-EFFB-86A1EF080B03}"/>
              </a:ext>
            </a:extLst>
          </p:cNvPr>
          <p:cNvSpPr/>
          <p:nvPr/>
        </p:nvSpPr>
        <p:spPr>
          <a:xfrm>
            <a:off x="6896100" y="57531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 performance data and client feedback to guide refinements and inform scale-up decisions.</a:t>
            </a:r>
            <a:endParaRPr lang="en-US" sz="12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645891C9-C57D-2294-66B8-995E79142562}"/>
              </a:ext>
            </a:extLst>
          </p:cNvPr>
          <p:cNvSpPr/>
          <p:nvPr/>
        </p:nvSpPr>
        <p:spPr>
          <a:xfrm>
            <a:off x="381000" y="6667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55" name="Image 19" descr="preencoded.png">
            <a:extLst>
              <a:ext uri="{FF2B5EF4-FFF2-40B4-BE49-F238E27FC236}">
                <a16:creationId xmlns:a16="http://schemas.microsoft.com/office/drawing/2014/main" id="{EC16F078-A7EB-0F6A-B89C-22F2379E296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6136" y="2550208"/>
            <a:ext cx="1697236" cy="76200"/>
          </a:xfrm>
          <a:prstGeom prst="rect">
            <a:avLst/>
          </a:prstGeom>
        </p:spPr>
      </p:pic>
      <p:pic>
        <p:nvPicPr>
          <p:cNvPr id="56" name="Image 15" descr="preencoded.png">
            <a:extLst>
              <a:ext uri="{FF2B5EF4-FFF2-40B4-BE49-F238E27FC236}">
                <a16:creationId xmlns:a16="http://schemas.microsoft.com/office/drawing/2014/main" id="{2D09306B-4384-7C6E-1637-644CD1C3CEB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8179" y="1867395"/>
            <a:ext cx="571500" cy="571500"/>
          </a:xfrm>
          <a:prstGeom prst="rect">
            <a:avLst/>
          </a:prstGeom>
        </p:spPr>
      </p:pic>
      <p:sp>
        <p:nvSpPr>
          <p:cNvPr id="44" name="Text 13">
            <a:extLst>
              <a:ext uri="{FF2B5EF4-FFF2-40B4-BE49-F238E27FC236}">
                <a16:creationId xmlns:a16="http://schemas.microsoft.com/office/drawing/2014/main" id="{F6C90865-373E-B70F-ED3E-3C53E0E0BDF3}"/>
              </a:ext>
            </a:extLst>
          </p:cNvPr>
          <p:cNvSpPr/>
          <p:nvPr/>
        </p:nvSpPr>
        <p:spPr>
          <a:xfrm>
            <a:off x="8737976" y="1905000"/>
            <a:ext cx="595135" cy="54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2</a:t>
            </a:r>
          </a:p>
          <a:p>
            <a:pPr marL="0" indent="0">
              <a:lnSpc>
                <a:spcPts val="216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9505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D2B1-4D36-AE63-719B-D185C2E7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ABA585A-2D8A-49B9-B718-CAF03F827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C68B844-D697-9124-88C1-B0364106A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15F9F6D-8D06-F927-A9AE-C65D8929A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586" y="378508"/>
            <a:ext cx="3954328" cy="305298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EE908A1-EBCA-1E8E-FEFB-C3CC992AE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79" y="4808468"/>
            <a:ext cx="2922243" cy="200356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A9CB8E9-8413-CBB2-6779-3A02825237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85725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5A91953E-BB2C-094B-45DB-3A231DF2E5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19200"/>
            <a:ext cx="5600700" cy="25527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EDA1B362-D97B-34BA-2235-D3274BBF01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476375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7DAE3B6C-AAF4-EC45-A408-6A78B317E4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52700"/>
            <a:ext cx="5143500" cy="9906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54F66BEE-638B-4C5E-2CD8-7AAE18F9CF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CF011E8D-B508-7EA7-9859-DF218002FE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962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802B7EF4-F848-45B6-FF70-7341D2704F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908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654EE8EF-DBE8-07B6-2ED1-952B3006AD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000500"/>
            <a:ext cx="5600700" cy="21336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FF7DAF6B-A27A-57E8-C5DC-105F78AEBD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2576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169524F6-4FC9-2AEA-5F9A-38C1EC7E94B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4404" y="1219200"/>
            <a:ext cx="5600700" cy="52197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D0433EDD-B73C-6308-CD0D-CA4B2DA86E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4763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93FBE883-459D-FAAA-4FD1-88D5B34D2AF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9050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CD7BC016-FFE1-94E1-9CDC-02ADEDEA927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2552700"/>
            <a:ext cx="5143500" cy="762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7E0A5D9B-70FB-882A-5677-331D1C98E42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552700"/>
            <a:ext cx="1697236" cy="762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566847D8-A277-35C7-0894-F40CD56A15B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8956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16D470E5-4E7F-7BFC-05A3-824B746CC05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4150" y="297180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556223B5-CA66-ED7F-90D0-9B0E011ED0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377190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1898E1E5-CD66-3F42-1D59-46E7CA8FFC3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38481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1984C305-74A1-8B3C-BDFD-9DBB4883F0A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900" y="46482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91386E44-BB0F-A533-A060-41DF4853CF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5100" y="47244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
            <a:extLst>
              <a:ext uri="{FF2B5EF4-FFF2-40B4-BE49-F238E27FC236}">
                <a16:creationId xmlns:a16="http://schemas.microsoft.com/office/drawing/2014/main" id="{8DF43174-8F10-FF83-3BE3-53781BF6FE6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34150" y="56007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>
            <a:extLst>
              <a:ext uri="{FF2B5EF4-FFF2-40B4-BE49-F238E27FC236}">
                <a16:creationId xmlns:a16="http://schemas.microsoft.com/office/drawing/2014/main" id="{7C3188E3-DB0C-11A7-9523-2F1C008C8E2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7086600"/>
            <a:ext cx="12192000" cy="152400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5C4BCF39-7BE4-B0CF-423D-31A79791DB43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 &amp; Next Steps</a:t>
            </a:r>
            <a:endParaRPr lang="en-US" sz="27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D3C55E90-5EF8-49A3-4D37-9C3769BABE62}"/>
              </a:ext>
            </a:extLst>
          </p:cNvPr>
          <p:cNvSpPr/>
          <p:nvPr/>
        </p:nvSpPr>
        <p:spPr>
          <a:xfrm>
            <a:off x="89535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Recommendation</a:t>
            </a:r>
            <a:endParaRPr lang="en-US" sz="18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0592E3A2-D7DF-3A68-9B68-4B123BB4B9D8}"/>
              </a:ext>
            </a:extLst>
          </p:cNvPr>
          <p:cNvSpPr/>
          <p:nvPr/>
        </p:nvSpPr>
        <p:spPr>
          <a:xfrm>
            <a:off x="609600" y="18669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Strategically enter the short-term rental market alongside our client through a phased pilot project.</a:t>
            </a:r>
            <a:endParaRPr lang="en-US" sz="135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D88B4340-9EF0-14F7-F66B-AA89810996A0}"/>
              </a:ext>
            </a:extLst>
          </p:cNvPr>
          <p:cNvSpPr/>
          <p:nvPr/>
        </p:nvSpPr>
        <p:spPr>
          <a:xfrm>
            <a:off x="990600" y="27051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Convert a select number of the client's 244 properties</a:t>
            </a:r>
            <a:endParaRPr lang="en-US" sz="12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708FA82-67A6-DC14-5962-27BBC623C9A0}"/>
              </a:ext>
            </a:extLst>
          </p:cNvPr>
          <p:cNvSpPr/>
          <p:nvPr/>
        </p:nvSpPr>
        <p:spPr>
          <a:xfrm>
            <a:off x="990600" y="29337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Maximize potential profits while minimizing risks</a:t>
            </a:r>
            <a:endParaRPr lang="en-US" sz="12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BA736F1-2572-6170-FF25-048698A52ECB}"/>
              </a:ext>
            </a:extLst>
          </p:cNvPr>
          <p:cNvSpPr/>
          <p:nvPr/>
        </p:nvSpPr>
        <p:spPr>
          <a:xfrm>
            <a:off x="990600" y="31623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Optimize use of $500,000 working capital</a:t>
            </a:r>
            <a:endParaRPr lang="en-US" sz="12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2C3C4D8E-A575-2BC5-B8D2-39A21E1A82B1}"/>
              </a:ext>
            </a:extLst>
          </p:cNvPr>
          <p:cNvSpPr/>
          <p:nvPr/>
        </p:nvSpPr>
        <p:spPr>
          <a:xfrm>
            <a:off x="952500" y="42291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BF5CA26D-F196-0BE5-3BF5-0E44F7889C29}"/>
              </a:ext>
            </a:extLst>
          </p:cNvPr>
          <p:cNvSpPr/>
          <p:nvPr/>
        </p:nvSpPr>
        <p:spPr>
          <a:xfrm>
            <a:off x="723900" y="4648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a foothold in the growing short-term rental market</a:t>
            </a:r>
            <a:endParaRPr lang="en-US" sz="12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F9AAE368-1CF3-8683-379D-BA2520071314}"/>
              </a:ext>
            </a:extLst>
          </p:cNvPr>
          <p:cNvSpPr/>
          <p:nvPr/>
        </p:nvSpPr>
        <p:spPr>
          <a:xfrm>
            <a:off x="723900" y="49911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additional revenue streams for both parties</a:t>
            </a:r>
            <a:endParaRPr lang="en-US" sz="12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8D2E2388-7A7B-1B57-A5B5-B5C607EE81C8}"/>
              </a:ext>
            </a:extLst>
          </p:cNvPr>
          <p:cNvSpPr/>
          <p:nvPr/>
        </p:nvSpPr>
        <p:spPr>
          <a:xfrm>
            <a:off x="723900" y="5334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expertise through hands-on experience</a:t>
            </a:r>
            <a:endParaRPr lang="en-US" sz="12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1029D4C8-A1D1-B6CE-DA79-B918097DFDB6}"/>
              </a:ext>
            </a:extLst>
          </p:cNvPr>
          <p:cNvSpPr/>
          <p:nvPr/>
        </p:nvSpPr>
        <p:spPr>
          <a:xfrm>
            <a:off x="723900" y="56769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scalable model for future expansion</a:t>
            </a:r>
            <a:endParaRPr lang="en-US" sz="12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6C48A471-6A5A-A249-F89A-5B58ED1ECAEC}"/>
              </a:ext>
            </a:extLst>
          </p:cNvPr>
          <p:cNvSpPr/>
          <p:nvPr/>
        </p:nvSpPr>
        <p:spPr>
          <a:xfrm>
            <a:off x="6781800" y="14478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 Items for Executives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800FE5A1-49B3-59CE-AF25-753415207713}"/>
              </a:ext>
            </a:extLst>
          </p:cNvPr>
          <p:cNvSpPr/>
          <p:nvPr/>
        </p:nvSpPr>
        <p:spPr>
          <a:xfrm>
            <a:off x="6509881" y="193996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1</a:t>
            </a:r>
            <a:endParaRPr lang="en-US" sz="144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6F67EF35-8023-4591-930E-89D6A06BFD46}"/>
              </a:ext>
            </a:extLst>
          </p:cNvPr>
          <p:cNvSpPr/>
          <p:nvPr/>
        </p:nvSpPr>
        <p:spPr>
          <a:xfrm>
            <a:off x="6896100" y="28575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Scaled Rollout</a:t>
            </a:r>
            <a:endParaRPr lang="en-US" sz="13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F51A554-0E35-D827-1CD8-C7C55C0B3F81}"/>
              </a:ext>
            </a:extLst>
          </p:cNvPr>
          <p:cNvSpPr/>
          <p:nvPr/>
        </p:nvSpPr>
        <p:spPr>
          <a:xfrm>
            <a:off x="6896100" y="31242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 operations beyond the pilot phase, applying proven models and best practices to additional properties and cities.</a:t>
            </a:r>
            <a:endParaRPr lang="en-US" sz="12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353EA7BF-6110-7792-CDA0-076B56BA667A}"/>
              </a:ext>
            </a:extLst>
          </p:cNvPr>
          <p:cNvSpPr/>
          <p:nvPr/>
        </p:nvSpPr>
        <p:spPr>
          <a:xfrm>
            <a:off x="6896100" y="3733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Monitoring &amp; KPI Tracking</a:t>
            </a:r>
            <a:endParaRPr lang="en-US" sz="135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9C284E9E-3C5B-6858-26CA-1718A73AD7C6}"/>
              </a:ext>
            </a:extLst>
          </p:cNvPr>
          <p:cNvSpPr/>
          <p:nvPr/>
        </p:nvSpPr>
        <p:spPr>
          <a:xfrm>
            <a:off x="6896100" y="40005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occupancy, revenue, and ROI to ensure scalability and operational efficiency across all units.</a:t>
            </a:r>
            <a:endParaRPr lang="en-US" sz="12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59FF5491-6B68-F854-1091-684060278CD7}"/>
              </a:ext>
            </a:extLst>
          </p:cNvPr>
          <p:cNvSpPr/>
          <p:nvPr/>
        </p:nvSpPr>
        <p:spPr>
          <a:xfrm>
            <a:off x="6896100" y="46101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Regional Expansion Strategy</a:t>
            </a:r>
            <a:endParaRPr lang="en-US" sz="135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CC3C873-741D-BA05-821B-1DEBCFCCF731}"/>
              </a:ext>
            </a:extLst>
          </p:cNvPr>
          <p:cNvSpPr/>
          <p:nvPr/>
        </p:nvSpPr>
        <p:spPr>
          <a:xfrm>
            <a:off x="6896100" y="4876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high-potential markets for phased regional growth and establish a replicable framework for new locations.</a:t>
            </a:r>
            <a:endParaRPr lang="en-US" sz="12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378C2621-73B2-F881-B4E4-5E30A48FC018}"/>
              </a:ext>
            </a:extLst>
          </p:cNvPr>
          <p:cNvSpPr/>
          <p:nvPr/>
        </p:nvSpPr>
        <p:spPr>
          <a:xfrm>
            <a:off x="381000" y="6667500"/>
            <a:ext cx="269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Watershed Property Management</a:t>
            </a:r>
            <a:endParaRPr lang="en-US" sz="1050" dirty="0"/>
          </a:p>
        </p:txBody>
      </p:sp>
      <p:pic>
        <p:nvPicPr>
          <p:cNvPr id="55" name="Image 19" descr="preencoded.png">
            <a:extLst>
              <a:ext uri="{FF2B5EF4-FFF2-40B4-BE49-F238E27FC236}">
                <a16:creationId xmlns:a16="http://schemas.microsoft.com/office/drawing/2014/main" id="{B7F453F1-6E42-AF8E-77E6-0FAA078AF38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6136" y="2550208"/>
            <a:ext cx="1697236" cy="76200"/>
          </a:xfrm>
          <a:prstGeom prst="rect">
            <a:avLst/>
          </a:prstGeom>
        </p:spPr>
      </p:pic>
      <p:pic>
        <p:nvPicPr>
          <p:cNvPr id="56" name="Image 15" descr="preencoded.png">
            <a:extLst>
              <a:ext uri="{FF2B5EF4-FFF2-40B4-BE49-F238E27FC236}">
                <a16:creationId xmlns:a16="http://schemas.microsoft.com/office/drawing/2014/main" id="{FCF1643C-0E51-0C8C-1BB1-C35F41C1D2C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8179" y="1867395"/>
            <a:ext cx="571500" cy="571500"/>
          </a:xfrm>
          <a:prstGeom prst="rect">
            <a:avLst/>
          </a:prstGeom>
        </p:spPr>
      </p:pic>
      <p:sp>
        <p:nvSpPr>
          <p:cNvPr id="44" name="Text 13">
            <a:extLst>
              <a:ext uri="{FF2B5EF4-FFF2-40B4-BE49-F238E27FC236}">
                <a16:creationId xmlns:a16="http://schemas.microsoft.com/office/drawing/2014/main" id="{C312C1D6-6940-BB9A-ABCF-0AFF6E356579}"/>
              </a:ext>
            </a:extLst>
          </p:cNvPr>
          <p:cNvSpPr/>
          <p:nvPr/>
        </p:nvSpPr>
        <p:spPr>
          <a:xfrm>
            <a:off x="8737976" y="1905000"/>
            <a:ext cx="595135" cy="54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2</a:t>
            </a:r>
          </a:p>
          <a:p>
            <a:pPr marL="0" indent="0">
              <a:lnSpc>
                <a:spcPts val="2160"/>
              </a:lnSpc>
              <a:buNone/>
            </a:pPr>
            <a:endParaRPr lang="en-US" sz="800" dirty="0"/>
          </a:p>
        </p:txBody>
      </p:sp>
      <p:pic>
        <p:nvPicPr>
          <p:cNvPr id="18" name="Image 19" descr="preencoded.png">
            <a:extLst>
              <a:ext uri="{FF2B5EF4-FFF2-40B4-BE49-F238E27FC236}">
                <a16:creationId xmlns:a16="http://schemas.microsoft.com/office/drawing/2014/main" id="{810D1E25-FB52-3B1E-11E0-BCA16A4179D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36646" y="2546680"/>
            <a:ext cx="1697236" cy="76200"/>
          </a:xfrm>
          <a:prstGeom prst="rect">
            <a:avLst/>
          </a:prstGeom>
        </p:spPr>
      </p:pic>
      <p:pic>
        <p:nvPicPr>
          <p:cNvPr id="59" name="Image 15" descr="preencoded.png">
            <a:extLst>
              <a:ext uri="{FF2B5EF4-FFF2-40B4-BE49-F238E27FC236}">
                <a16:creationId xmlns:a16="http://schemas.microsoft.com/office/drawing/2014/main" id="{EF91EBB2-D83E-89B8-5674-BBE9A7C2727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5502" y="1866900"/>
            <a:ext cx="571500" cy="571500"/>
          </a:xfrm>
          <a:prstGeom prst="rect">
            <a:avLst/>
          </a:prstGeom>
        </p:spPr>
      </p:pic>
      <p:sp>
        <p:nvSpPr>
          <p:cNvPr id="60" name="Text 13">
            <a:extLst>
              <a:ext uri="{FF2B5EF4-FFF2-40B4-BE49-F238E27FC236}">
                <a16:creationId xmlns:a16="http://schemas.microsoft.com/office/drawing/2014/main" id="{EB4C3859-5CDA-D63E-9199-7352FFF38188}"/>
              </a:ext>
            </a:extLst>
          </p:cNvPr>
          <p:cNvSpPr/>
          <p:nvPr/>
        </p:nvSpPr>
        <p:spPr>
          <a:xfrm>
            <a:off x="10536167" y="1881528"/>
            <a:ext cx="595135" cy="54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</a:t>
            </a:r>
          </a:p>
          <a:p>
            <a:pPr>
              <a:lnSpc>
                <a:spcPts val="216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3</a:t>
            </a:r>
          </a:p>
          <a:p>
            <a:pPr marL="0" indent="0">
              <a:lnSpc>
                <a:spcPts val="216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157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908</Words>
  <Application>Microsoft Office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ui-sans-serif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M8090</cp:lastModifiedBy>
  <cp:revision>22</cp:revision>
  <dcterms:created xsi:type="dcterms:W3CDTF">2025-10-17T08:07:10Z</dcterms:created>
  <dcterms:modified xsi:type="dcterms:W3CDTF">2025-10-21T03:26:50Z</dcterms:modified>
</cp:coreProperties>
</file>